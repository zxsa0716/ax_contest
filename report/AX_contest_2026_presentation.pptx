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8"/>
                </a:solidFill>
              </a:rPr>
              <a:t>한국 코스피 상장기업
온실가스 공시 신뢰성 3중 검증</a:t>
            </a:r>
          </a:p>
          <a:p>
            <a:pPr algn="ctr"/>
            <a:r>
              <a:rPr sz="1800">
                <a:solidFill>
                  <a:srgbClr val="606060"/>
                </a:solidFill>
              </a:rPr>
              <a:t>
GIR × ESG × Sentinel-5P × ODIAC 4중 비교와
KSSB 2028 의무공시 검증체계 설계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606060"/>
                </a:solidFill>
              </a:rPr>
              <a:t>2026 AX 아이디어 경진대회 자유분석 부문 · 마감 2026-05-18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Hero Finding — 한 줄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포스코홀딩스 Mann-Kendall τ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GIR 법정 공시: τ = +1.00 (완벽 상승)</a:t>
            </a:r>
          </a:p>
          <a:p>
            <a:r>
              <a:rPr sz="1400">
                <a:solidFill>
                  <a:srgbClr val="1A1A18"/>
                </a:solidFill>
              </a:rPr>
              <a:t>ESG 자체보고: τ = +0.67 (상승)</a:t>
            </a:r>
          </a:p>
          <a:p>
            <a:r>
              <a:rPr sz="1400">
                <a:solidFill>
                  <a:srgbClr val="1A1A18"/>
                </a:solidFill>
              </a:rPr>
              <a:t>위성 NO₂:    τ = −1.00 (완벽 하강)</a:t>
            </a:r>
          </a:p>
          <a:p>
            <a:r>
              <a:rPr sz="1400">
                <a:solidFill>
                  <a:srgbClr val="1A1A18"/>
                </a:solidFill>
              </a:rPr>
              <a:t>ODIAC CO₂:   τ = −1.00 (완벽 하강)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→ 한국 코스피 상장기업 중 GIR 공시와</a:t>
            </a:r>
          </a:p>
          <a:p>
            <a:r>
              <a:rPr sz="1400">
                <a:solidFill>
                  <a:srgbClr val="1A1A18"/>
                </a:solidFill>
              </a:rPr>
              <a:t>  위성 독립측정의 방향이 완벽히 반대인</a:t>
            </a:r>
          </a:p>
          <a:p>
            <a:r>
              <a:rPr sz="1400">
                <a:solidFill>
                  <a:srgbClr val="1A1A18"/>
                </a:solidFill>
              </a:rPr>
              <a:t>  사례를 처음으로 정량적으로 식별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→ 2028년 KSSB 의무공시 시행 직전</a:t>
            </a:r>
          </a:p>
          <a:p>
            <a:r>
              <a:rPr sz="1400">
                <a:solidFill>
                  <a:srgbClr val="1A1A18"/>
                </a:solidFill>
              </a:rPr>
              <a:t>  검증체계 설계의 골든 타임</a:t>
            </a:r>
          </a:p>
        </p:txBody>
      </p:sp>
      <p:pic>
        <p:nvPicPr>
          <p:cNvPr id="5" name="Picture 4" descr="fig_concept_4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한국 ESG 공시의 두 채널 — 구조적 불일치 가능성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채널 1: GIR 법정 명세서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환경부 온실가스종합정보센터 신고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사업장 단위, 처벌 구속력 (배출권거래법)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K-ETS 할당의 직접 근거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채널 2: ESG 자체보고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GRI 305-1, TCFD, ISSB 기준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연결 기준, 투자자 대상 자율 공시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허위 공시 실질 제재 부재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불일치 발생 4가지 원인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조직경계 (control vs equity)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배출계수 (국내고시 vs 국제기준)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공간범위 (국내 vs 해외 포함)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처벌 비대칭 (제재 유인 차이)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검증 시스템 부재 — 제3자 검증의 한계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현행 제3자 검증 (ISAE 3410, AA1000AS)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자료의 적정성 확인에 그침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절대값 정확성 검증 X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독립적 물리 측정 기반 부재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KSSB 2028 외부 검증 요건화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2026-02-26 KSSB 제2호 확정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FY27부터 의무공시 (2028 보고)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검증 프로토콜 미정 → 본 연구의 진입점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위성 + ODIAC 독립 검증의 가능성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Sentinel-5P TROPOMI (Kim 2020 R=0.96)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ODIAC 1km top-down CO₂ (Ahn-Goldberg 2025)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ERA5 기상보정 표준 (Fioletov 2025)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본 연구의 4중 비교 프레임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4채널 통합 비교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GIR (정부) ←→ ESG (시장)</a:t>
            </a:r>
          </a:p>
          <a:p>
            <a:r>
              <a:rPr sz="1400">
                <a:solidFill>
                  <a:srgbClr val="1A1A18"/>
                </a:solidFill>
              </a:rPr>
              <a:t>        ↓</a:t>
            </a:r>
          </a:p>
          <a:p>
            <a:r>
              <a:rPr sz="1400">
                <a:solidFill>
                  <a:srgbClr val="1A1A18"/>
                </a:solidFill>
              </a:rPr>
              <a:t>위성 4종 (대기 물리)</a:t>
            </a:r>
          </a:p>
          <a:p>
            <a:r>
              <a:rPr sz="1400">
                <a:solidFill>
                  <a:srgbClr val="1A1A18"/>
                </a:solidFill>
              </a:rPr>
              <a:t>+ ODIAC CO₂ (top-down)</a:t>
            </a:r>
          </a:p>
          <a:p>
            <a:r>
              <a:rPr sz="1400">
                <a:solidFill>
                  <a:srgbClr val="1A1A18"/>
                </a:solidFill>
              </a:rPr>
              <a:t>        ↓</a:t>
            </a:r>
          </a:p>
          <a:p>
            <a:r>
              <a:rPr sz="1400">
                <a:solidFill>
                  <a:srgbClr val="1A1A18"/>
                </a:solidFill>
              </a:rPr>
              <a:t>ERA5 기상보정 잔차</a:t>
            </a:r>
          </a:p>
          <a:p>
            <a:r>
              <a:rPr sz="1400">
                <a:solidFill>
                  <a:srgbClr val="1A1A18"/>
                </a:solidFill>
              </a:rPr>
              <a:t>        ↓</a:t>
            </a:r>
          </a:p>
          <a:p>
            <a:r>
              <a:rPr sz="1400">
                <a:solidFill>
                  <a:srgbClr val="1A1A18"/>
                </a:solidFill>
              </a:rPr>
              <a:t>Mann-Kendall 방향 일관성</a:t>
            </a:r>
          </a:p>
          <a:p>
            <a:r>
              <a:rPr sz="1400">
                <a:solidFill>
                  <a:srgbClr val="1A1A18"/>
                </a:solidFill>
              </a:rPr>
              <a:t>        ↓</a:t>
            </a:r>
          </a:p>
          <a:p>
            <a:r>
              <a:rPr sz="1400">
                <a:solidFill>
                  <a:srgbClr val="1A1A18"/>
                </a:solidFill>
              </a:rPr>
              <a:t>패턴 5종 분류 (A·B·C·D·E)</a:t>
            </a:r>
          </a:p>
          <a:p>
            <a:r>
              <a:rPr sz="1400">
                <a:solidFill>
                  <a:srgbClr val="1A1A18"/>
                </a:solidFill>
              </a:rPr>
              <a:t>        ↓</a:t>
            </a:r>
          </a:p>
          <a:p>
            <a:r>
              <a:rPr sz="1400">
                <a:solidFill>
                  <a:srgbClr val="1A1A18"/>
                </a:solidFill>
              </a:rPr>
              <a:t>검증 우선순위 매트릭스</a:t>
            </a:r>
          </a:p>
          <a:p>
            <a:r>
              <a:rPr sz="1400">
                <a:solidFill>
                  <a:srgbClr val="1A1A18"/>
                </a:solidFill>
              </a:rPr>
              <a:t>→ KEITI · KSSB 정책 직결</a:t>
            </a:r>
          </a:p>
        </p:txBody>
      </p:sp>
      <p:pic>
        <p:nvPicPr>
          <p:cNvPr id="5" name="Picture 4" descr="fig_concept_4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KSSB 2028 임박성 — 검증 체계 설계의 골든 타임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확정된 정책 타임라인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2026-02-25: FSC 'ESG 공시 로드맵(안)' 발표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2026-02-26: KSSB 제1호·제2호·제101호 확정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2027 회계연도: 첫 의무공시 적용 (KOSPI 30조원↑)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2028년: 첫 보고서 제출 (약 49-58개사)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골든 타임의 의미</a:t>
            </a:r>
          </a:p>
          <a:p>
            <a:r>
              <a:rPr sz="1400">
                <a:solidFill>
                  <a:srgbClr val="1A1A18"/>
                </a:solidFill>
              </a:rPr>
              <a:t>2026~2027년 2년이 검증 체계를 설계할</a:t>
            </a:r>
          </a:p>
          <a:p>
            <a:r>
              <a:rPr sz="1400">
                <a:solidFill>
                  <a:srgbClr val="1A1A18"/>
                </a:solidFill>
              </a:rPr>
              <a:t>마지막 기회. 의무화는 형식적 제출 요건에</a:t>
            </a:r>
          </a:p>
          <a:p>
            <a:r>
              <a:rPr sz="1400">
                <a:solidFill>
                  <a:srgbClr val="1A1A18"/>
                </a:solidFill>
              </a:rPr>
              <a:t>그칠 위험 → 본 연구가 즉시 적용 가능한</a:t>
            </a:r>
          </a:p>
          <a:p>
            <a:r>
              <a:rPr sz="1400">
                <a:solidFill>
                  <a:srgbClr val="1A1A18"/>
                </a:solidFill>
              </a:rPr>
              <a:t>검증 프레임워크 제공.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Gold 23개사 = KSSB 1차 대상과 직접 교집합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Gold 23개사 — KSSB 2028 ∩ KOSPI ∩ GIR ≥3yr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산업 구성 (5개 군)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산업·에너지 (5):</a:t>
            </a:r>
          </a:p>
          <a:p>
            <a:r>
              <a:rPr sz="1400">
                <a:solidFill>
                  <a:srgbClr val="1A1A18"/>
                </a:solidFill>
              </a:rPr>
              <a:t>  POSCO·현대제철·KEPCO·SK이노·LG엔솔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반도체·전자 (3):</a:t>
            </a:r>
          </a:p>
          <a:p>
            <a:r>
              <a:rPr sz="1400">
                <a:solidFill>
                  <a:srgbClr val="1A1A18"/>
                </a:solidFill>
              </a:rPr>
              <a:t>  삼성전자·SK하이닉스·LG디스플레이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석유화학 (3):</a:t>
            </a:r>
          </a:p>
          <a:p>
            <a:r>
              <a:rPr sz="1400">
                <a:solidFill>
                  <a:srgbClr val="1A1A18"/>
                </a:solidFill>
              </a:rPr>
              <a:t>  롯데케미칼·한화솔루션·한화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금융·서비스 (4):</a:t>
            </a:r>
          </a:p>
          <a:p>
            <a:r>
              <a:rPr sz="1400">
                <a:solidFill>
                  <a:srgbClr val="1A1A18"/>
                </a:solidFill>
              </a:rPr>
              <a:t>  삼성생명·IBK·KT·네이버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지주·기타 (8):</a:t>
            </a:r>
          </a:p>
          <a:p>
            <a:r>
              <a:rPr sz="1400">
                <a:solidFill>
                  <a:srgbClr val="1A1A18"/>
                </a:solidFill>
              </a:rPr>
              <a:t>  삼성물산·CJ제일제당·롯데쇼핑·이마트·</a:t>
            </a:r>
          </a:p>
          <a:p>
            <a:r>
              <a:rPr sz="1400">
                <a:solidFill>
                  <a:srgbClr val="1A1A18"/>
                </a:solidFill>
              </a:rPr>
              <a:t>  두산·대한항공·현대차·현대모비스</a:t>
            </a:r>
          </a:p>
        </p:txBody>
      </p:sp>
      <p:pic>
        <p:nvPicPr>
          <p:cNvPr id="5" name="Picture 4" descr="fig_map_gold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데이터 인프라 — 18 데이터셋 통합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위성·기상 (5)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Sentinel-5P NO₂·SO₂·CO·HCHO (1380 monthly)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ODIAC v2024 CO₂ 1km (60 monthly rasters)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ERA5-Land + ERA5 BLH (5 변수)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MERRA-2 sensitivity check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ASOS 5 stations × 5 years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공식 공시 (8)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GIR 명세서 7년 (7,998행)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지속가능경영보고서 126 PDFs (1.5GB)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DART 사업보고서 + 재무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K-ETS 할당 4 phase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KCGS ESG 등급 21건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통합환경허가 1,065건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NIR 국가 인벤토리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DART 자율공시 81건 ESG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기준·매핑 (5)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KOSPI 전체 789 corp_code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KSSB 2028 pool 49사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VWorld 지오코딩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KCGS 21 supervised label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4 ADR 의사결정</a:t>
            </a:r>
          </a:p>
        </p:txBody>
      </p:sp>
      <p:pic>
        <p:nvPicPr>
          <p:cNvPr id="5" name="Picture 4" descr="fig_map_odiac_ko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Agenda — 5-Part 발표 구성 (50 슬라이드)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Part 1: 도입 + 문제의식 (1-10)</a:t>
            </a:r>
          </a:p>
          <a:p>
            <a:r>
              <a:rPr sz="1400">
                <a:solidFill>
                  <a:srgbClr val="1A1A18"/>
                </a:solidFill>
              </a:rPr>
              <a:t>KSSB 2028 임박성, 4중 비교 프레임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Part 2: 데이터 + 위성 영상 (11-20)</a:t>
            </a:r>
          </a:p>
          <a:p>
            <a:r>
              <a:rPr sz="1400">
                <a:solidFill>
                  <a:srgbClr val="1A1A18"/>
                </a:solidFill>
              </a:rPr>
              <a:t>18 데이터셋 명세, 한국 위성 지도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Part 3: 분석 8단계 방법론 (21-30)</a:t>
            </a:r>
          </a:p>
          <a:p>
            <a:r>
              <a:rPr sz="1400">
                <a:solidFill>
                  <a:srgbClr val="1A1A18"/>
                </a:solidFill>
              </a:rPr>
              <a:t>ERA5 보정, 패턴 분류, Heckman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Part 4: 결과 — 결정적 발견 4가지 (31-40)</a:t>
            </a:r>
          </a:p>
          <a:p>
            <a:r>
              <a:rPr sz="1400">
                <a:solidFill>
                  <a:srgbClr val="1A1A18"/>
                </a:solidFill>
              </a:rPr>
              <a:t>패턴 D 2개사, 이상탐지, 회귀, SHAP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Part 5: 정책 + 결론 (41-50)</a:t>
            </a:r>
          </a:p>
          <a:p>
            <a:r>
              <a:rPr sz="1400">
                <a:solidFill>
                  <a:srgbClr val="1A1A18"/>
                </a:solidFill>
              </a:rPr>
              <a:t>3 정책 카드, KSSB 활용, 한계 + 향후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Part 1 결론: 4중 비교 프레임의 신규성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선행 연구 격차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Liu 2020 (Nature): 중국 발전·산업 시설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Kim 2020 (Atmosphere): 한국 TROPOMI vs CAPSS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Fioletov 2025 (ACP): ERA5 보정 표준화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Ahn-Goldberg 2025 (AGU Adv): 54 cities CO₂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Taean 2024 (ScienceDirect): 한국 SO₂ top-down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본 연구 차별점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한국 코스피 기업 단위 4중 비교 최초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KSSB 2028 정책 직결 + Gold 직접 매칭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ERA5+MERRA-2+ASOS 3-layer 기상 보정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자동화 수집·파싱 시스템 영구 편입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8"/>
                </a:solidFill>
              </a:rPr>
              <a:t>Part 2 — 데이터 인프라</a:t>
            </a:r>
          </a:p>
          <a:p>
            <a:pPr algn="ctr"/>
            <a:r>
              <a:rPr sz="1800">
                <a:solidFill>
                  <a:srgbClr val="606060"/>
                </a:solidFill>
              </a:rPr>
              <a:t>
18 데이터셋 통합 + 한국 위성 영상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한국 ODIAC CO₂ 전국 지도 (2023-05)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시각화 핵심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ODIAC v2024 1km 해상도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한국 영토 클립 (124°E-132°E, 33°N-39°N)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log scale color (hot palette)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Gold 23개사 사업장 ▲ overlay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관찰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수도권 + 동남부 산업벨트 집중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포항·울산·여수·당진 hotspot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한국 연간 ~180 MtC, 월간 ~16 MtC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데이터 소스</a:t>
            </a:r>
          </a:p>
          <a:p>
            <a:r>
              <a:rPr sz="1400">
                <a:solidFill>
                  <a:srgbClr val="1A1A18"/>
                </a:solidFill>
              </a:rPr>
              <a:t>db.cger.nies.go.jp/dataset/ODIAC2024</a:t>
            </a:r>
          </a:p>
          <a:p>
            <a:r>
              <a:rPr sz="1400">
                <a:solidFill>
                  <a:srgbClr val="1A1A18"/>
                </a:solidFill>
              </a:rPr>
              <a:t>60 monthly GeoTIFF (2019-2023)</a:t>
            </a:r>
          </a:p>
        </p:txBody>
      </p:sp>
      <p:pic>
        <p:nvPicPr>
          <p:cNvPr id="5" name="Picture 4" descr="fig_map_odiac_ko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ODIAC 4계절 비교 — 산업 활동 패턴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4 panel: 1월·4월·7월·10월 (2023)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겨울 (1월):</a:t>
            </a:r>
          </a:p>
          <a:p>
            <a:r>
              <a:rPr sz="1400">
                <a:solidFill>
                  <a:srgbClr val="1A1A18"/>
                </a:solidFill>
              </a:rPr>
              <a:t>  난방 부하 + 화력 발전 가동률 상승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봄 (4월):</a:t>
            </a:r>
          </a:p>
          <a:p>
            <a:r>
              <a:rPr sz="1400">
                <a:solidFill>
                  <a:srgbClr val="1A1A18"/>
                </a:solidFill>
              </a:rPr>
              <a:t>  생산 활동 정점, 안정적 패턴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여름 (7월):</a:t>
            </a:r>
          </a:p>
          <a:p>
            <a:r>
              <a:rPr sz="1400">
                <a:solidFill>
                  <a:srgbClr val="1A1A18"/>
                </a:solidFill>
              </a:rPr>
              <a:t>  냉방 부하 + 일부 정유 가동률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가을 (10월):</a:t>
            </a:r>
          </a:p>
          <a:p>
            <a:r>
              <a:rPr sz="1400">
                <a:solidFill>
                  <a:srgbClr val="1A1A18"/>
                </a:solidFill>
              </a:rPr>
              <a:t>  화학·정유 정기보수 영향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→ 산업단지의 계절성이 위성에서 가시화</a:t>
            </a:r>
          </a:p>
        </p:txBody>
      </p:sp>
      <p:pic>
        <p:nvPicPr>
          <p:cNvPr id="5" name="Picture 4" descr="fig_map_odiac_seaso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Gold 23개사 사업장 위치 (산업별)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5개 산업 분류 색상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철강 (steel): 빨강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석유화학 (petrochem): 주황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발전 (power_coal): 검정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반도체 (semiconductor): 하늘색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금융·기타 (other): 회색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사업장 좌표 출처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VWorld Geocoder API 2.0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23/23 매칭 성공 (100%)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단, 일부 firm은 본사 좌표 (한계 8.0 참조)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클러스터 패턴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수도권: 본사·서비스 firms 집중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동남부: 포항·울산 산업밸트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남해안: 여수·광양 석유화학</a:t>
            </a:r>
          </a:p>
        </p:txBody>
      </p:sp>
      <p:pic>
        <p:nvPicPr>
          <p:cNvPr id="5" name="Picture 4" descr="fig_map_gold_si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ASOS 지상 관측 + 23사 매칭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ASOS 5개 지점 활용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서울 (108): 수도권 firms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수원 (119): 분당·기흥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인천 (112): 인천 공장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포항 (138): POSCO 포항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광주 (156): 호남권 firms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평균 매칭 거리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9.2 km (대부분 &lt; 20 km)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일부 site &gt; 20 km (당진·태안 flag)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ERA5 vs ASOS 검증 목적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격자 모델 vs 지점 관측 sanity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기상보정 robustness 추가 신뢰도</a:t>
            </a:r>
          </a:p>
        </p:txBody>
      </p:sp>
      <p:pic>
        <p:nvPicPr>
          <p:cNvPr id="5" name="Picture 4" descr="fig_map_asos_st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데이터 커버리지 매트릭스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비율 요약 (157 firm-year 기준)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GIR Scope 1:        100% (157/157)</a:t>
            </a:r>
          </a:p>
          <a:p>
            <a:r>
              <a:rPr sz="1400">
                <a:solidFill>
                  <a:srgbClr val="1A1A18"/>
                </a:solidFill>
              </a:rPr>
              <a:t>ESG Scope 1:         76% (119/157)</a:t>
            </a:r>
          </a:p>
          <a:p>
            <a:r>
              <a:rPr sz="1400">
                <a:solidFill>
                  <a:srgbClr val="1A1A18"/>
                </a:solidFill>
              </a:rPr>
              <a:t>Sentinel-5P NO₂:    100% (115/115 in 2019-23)</a:t>
            </a:r>
          </a:p>
          <a:p>
            <a:r>
              <a:rPr sz="1400">
                <a:solidFill>
                  <a:srgbClr val="1A1A18"/>
                </a:solidFill>
              </a:rPr>
              <a:t>Sentinel-5P SO₂:     96% (110/115)</a:t>
            </a:r>
          </a:p>
          <a:p>
            <a:r>
              <a:rPr sz="1400">
                <a:solidFill>
                  <a:srgbClr val="1A1A18"/>
                </a:solidFill>
              </a:rPr>
              <a:t>Sentinel-5P CO:     100%</a:t>
            </a:r>
          </a:p>
          <a:p>
            <a:r>
              <a:rPr sz="1400">
                <a:solidFill>
                  <a:srgbClr val="1A1A18"/>
                </a:solidFill>
              </a:rPr>
              <a:t>Sentinel-5P HCHO:   100%</a:t>
            </a:r>
          </a:p>
          <a:p>
            <a:r>
              <a:rPr sz="1400">
                <a:solidFill>
                  <a:srgbClr val="1A1A18"/>
                </a:solidFill>
              </a:rPr>
              <a:t>ERA5-Land:          100%</a:t>
            </a:r>
          </a:p>
          <a:p>
            <a:r>
              <a:rPr sz="1400">
                <a:solidFill>
                  <a:srgbClr val="1A1A18"/>
                </a:solidFill>
              </a:rPr>
              <a:t>ERA5 BLH:           100%</a:t>
            </a:r>
          </a:p>
          <a:p>
            <a:r>
              <a:rPr sz="1400">
                <a:solidFill>
                  <a:srgbClr val="1A1A18"/>
                </a:solidFill>
              </a:rPr>
              <a:t>MERRA-2 PBLTOP:     100%</a:t>
            </a:r>
          </a:p>
          <a:p>
            <a:r>
              <a:rPr sz="1400">
                <a:solidFill>
                  <a:srgbClr val="1A1A18"/>
                </a:solidFill>
              </a:rPr>
              <a:t>ODIAC CO₂ 1km:      100% (1380/1380 monthly)</a:t>
            </a:r>
          </a:p>
          <a:p>
            <a:r>
              <a:rPr sz="1400">
                <a:solidFill>
                  <a:srgbClr val="1A1A18"/>
                </a:solidFill>
              </a:rPr>
              <a:t>ASOS 5 stations:    100% (1380 monthly)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ESG 76% — 잔여 24% 사유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11 구조적 미발간 (LG엔솔 pre-2022,</a:t>
            </a:r>
          </a:p>
          <a:p>
            <a:r>
              <a:rPr sz="1400">
                <a:solidFill>
                  <a:srgbClr val="1A1A18"/>
                </a:solidFill>
              </a:rPr>
              <a:t>  현대차 pre-2022, 네이버 2019, IBK 2020,</a:t>
            </a:r>
          </a:p>
          <a:p>
            <a:r>
              <a:rPr sz="1400">
                <a:solidFill>
                  <a:srgbClr val="1A1A18"/>
                </a:solidFill>
              </a:rPr>
              <a:t>  롯데쇼핑·이마트 2019-2020 등)</a:t>
            </a:r>
          </a:p>
        </p:txBody>
      </p:sp>
      <p:pic>
        <p:nvPicPr>
          <p:cNvPr id="5" name="Picture 4" descr="fig_gi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GIR Scope 1 5년 추이 (Gold 23사)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시계열 관찰 (2019-2023)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대부분 firms 일관 하강 추세</a:t>
            </a:r>
          </a:p>
          <a:p>
            <a:r>
              <a:rPr sz="1400">
                <a:solidFill>
                  <a:srgbClr val="1A1A18"/>
                </a:solidFill>
              </a:rPr>
              <a:t>→ 탈탄소 정책 + 코로나 영향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Top 6 emitters (절대값)</a:t>
            </a:r>
          </a:p>
          <a:p>
            <a:r>
              <a:rPr sz="1400">
                <a:solidFill>
                  <a:srgbClr val="1A1A18"/>
                </a:solidFill>
              </a:rPr>
              <a:t>1. 한국전력공사 (압도적 1위)</a:t>
            </a:r>
          </a:p>
          <a:p>
            <a:r>
              <a:rPr sz="1400">
                <a:solidFill>
                  <a:srgbClr val="1A1A18"/>
                </a:solidFill>
              </a:rPr>
              <a:t>2. POSCO홀딩스</a:t>
            </a:r>
          </a:p>
          <a:p>
            <a:r>
              <a:rPr sz="1400">
                <a:solidFill>
                  <a:srgbClr val="1A1A18"/>
                </a:solidFill>
              </a:rPr>
              <a:t>3. 현대제철</a:t>
            </a:r>
          </a:p>
          <a:p>
            <a:r>
              <a:rPr sz="1400">
                <a:solidFill>
                  <a:srgbClr val="1A1A18"/>
                </a:solidFill>
              </a:rPr>
              <a:t>4. 한화솔루션</a:t>
            </a:r>
          </a:p>
          <a:p>
            <a:r>
              <a:rPr sz="1400">
                <a:solidFill>
                  <a:srgbClr val="1A1A18"/>
                </a:solidFill>
              </a:rPr>
              <a:t>5. SK이노베이션</a:t>
            </a:r>
          </a:p>
          <a:p>
            <a:r>
              <a:rPr sz="1400">
                <a:solidFill>
                  <a:srgbClr val="1A1A18"/>
                </a:solidFill>
              </a:rPr>
              <a:t>6. 삼성전자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산업별 패턴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발전 (KEPCO): 단계적 감축 진행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철강 (POSCO·현대제철): 변동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석유화학: 연도별 상이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반도체: 일정 (생산 확대 + 효율 개선)</a:t>
            </a:r>
          </a:p>
        </p:txBody>
      </p:sp>
      <p:pic>
        <p:nvPicPr>
          <p:cNvPr id="5" name="Picture 4" descr="fig_gir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ESG 보고서 자동 수집 시스템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3-Source Fallback 파이프라인</a:t>
            </a:r>
          </a:p>
          <a:p>
            <a:r>
              <a:rPr sz="1400">
                <a:solidFill>
                  <a:srgbClr val="1A1A18"/>
                </a:solidFill>
              </a:rPr>
              <a:t>1. DART Open API 자율공시 → URL</a:t>
            </a:r>
          </a:p>
          <a:p>
            <a:r>
              <a:rPr sz="1400">
                <a:solidFill>
                  <a:srgbClr val="1A1A18"/>
                </a:solidFill>
              </a:rPr>
              <a:t>2. KRX ESG 포털 (Selenium)</a:t>
            </a:r>
          </a:p>
          <a:p>
            <a:r>
              <a:rPr sz="1400">
                <a:solidFill>
                  <a:srgbClr val="1A1A18"/>
                </a:solidFill>
              </a:rPr>
              <a:t>3. IR 사이트 직접 다운로드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수집 결과 (126 PDFs, 1.5GB)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23 firms × 5-7 년치 (2019-2025 일부)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HIGH 신뢰도 21 / MED 91 / LOW 14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99% Scope 1 추출 성공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파싱 항목 (GRI 305-1/2/3)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Scope 1 (직접 배출)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Scope 2 location vs market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Scope 3 카테고리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조직경계 (operational/financial/equity)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제3자 검증 (ISAE 3410 / AA1000AS)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보고기준 (GRI / IFRS S2 / TCFD / KSSB)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자동화 시스템 영구 편입</a:t>
            </a:r>
          </a:p>
          <a:p>
            <a:r>
              <a:rPr sz="1400">
                <a:solidFill>
                  <a:srgbClr val="1A1A18"/>
                </a:solidFill>
              </a:rPr>
              <a:t>.claude/skills/sustainability-report-collect.md</a:t>
            </a:r>
          </a:p>
          <a:p>
            <a:r>
              <a:rPr sz="1400">
                <a:solidFill>
                  <a:srgbClr val="1A1A18"/>
                </a:solidFill>
              </a:rPr>
              <a:t>.claude/skills/esg-scope-extract.md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위성 + ERA5 통합 패널 구조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Panel: 23 sites × 60 months = 1380 rows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각 row 변수: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company_id, site_id, year, month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no2_mean, so2_mean, co_mean, hcho_mean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no2_resid, so2_resid, co_resid, hcho_resid (ERA5 보정 잔차)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era5_u10, v10, t2m, tp, blh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merra2_pbltop, ps, disph, qv2m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odiac_sum_tC (월 1km buffer)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asos_avgTa, avgWs, sumRn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ERA5 기상보정 R² (Per-site OLS)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HCHO: 0.94 (계절성 강함)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SO₂:  0.79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NO₂:  0.76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CO:   0.67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→ 잔차 = 배출 활동 신호 (기상 효과 제거)</a:t>
            </a:r>
          </a:p>
        </p:txBody>
      </p:sp>
      <p:pic>
        <p:nvPicPr>
          <p:cNvPr id="5" name="Picture 4" descr="fig_satellit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Part 2 결론: 데이터 인프라의 완결성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18 데이터셋 통합의 의의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단일 firm 단일 비교가 아닌 패널 분석 가능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기상 변동성 통제 (ERA5+MERRA-2+ASOS 3-layer)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위성 4종 + ODIAC = 5 채널 독립 측정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자동화 시스템 영구 편입 (재현 가능)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한국 코스피 ESG 분석 인프라 구축의 첫 걸음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GitHub 공개: https://github.com/zxsa0716/AX_Contest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API 키 발급 → 6-8시간 재현 가능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다음 Part 3: 8단계 분석 방법론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8"/>
                </a:solidFill>
              </a:rPr>
              <a:t>Part 3 — 8단계 분석 방법론</a:t>
            </a:r>
          </a:p>
          <a:p>
            <a:pPr algn="ctr"/>
            <a:r>
              <a:rPr sz="1800">
                <a:solidFill>
                  <a:srgbClr val="606060"/>
                </a:solidFill>
              </a:rPr>
              <a:t>
ERA5 보정 → 패턴 분류 → 이상탐지 → Heckman → SHAP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8단계 파이프라인 전체 도식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>
                <a:solidFill>
                  <a:srgbClr val="1A1A18"/>
                </a:solidFill>
              </a:rPr>
              <a:t>**1. 데이터 수집** (수동 + 자동화)</a:t>
            </a:r>
          </a:p>
          <a:p>
            <a:r>
              <a:rPr sz="1400">
                <a:solidFill>
                  <a:srgbClr val="1A1A18"/>
                </a:solidFill>
              </a:rPr>
              <a:t>**2. 전처리** (7-step: 매칭·Tier·MICE·신뢰도 등)</a:t>
            </a:r>
          </a:p>
          <a:p>
            <a:r>
              <a:rPr sz="1400">
                <a:solidFill>
                  <a:srgbClr val="1A1A18"/>
                </a:solidFill>
              </a:rPr>
              <a:t>**3. ERA5 기상보정** (per-site OLS, R² 0.67-0.94)</a:t>
            </a:r>
          </a:p>
          <a:p>
            <a:r>
              <a:rPr sz="1400">
                <a:solidFill>
                  <a:srgbClr val="1A1A18"/>
                </a:solidFill>
              </a:rPr>
              <a:t>**4. 괴리 지표** (절대·상대·방향)</a:t>
            </a:r>
          </a:p>
          <a:p>
            <a:r>
              <a:rPr sz="1400">
                <a:solidFill>
                  <a:srgbClr val="1A1A18"/>
                </a:solidFill>
              </a:rPr>
              <a:t>**5. 이상탐지 3층** (IF + LOF + MK + KCGS)</a:t>
            </a:r>
          </a:p>
          <a:p>
            <a:r>
              <a:rPr sz="1400">
                <a:solidFill>
                  <a:srgbClr val="1A1A18"/>
                </a:solidFill>
              </a:rPr>
              <a:t>**6. 4중 비교 + 패턴 5종** (Mann-Kendall τ)</a:t>
            </a:r>
          </a:p>
          <a:p>
            <a:r>
              <a:rPr sz="1400">
                <a:solidFill>
                  <a:srgbClr val="1A1A18"/>
                </a:solidFill>
              </a:rPr>
              <a:t>**7. Heckman 2-stage 회귀** (+ Bootstrap CI)</a:t>
            </a:r>
          </a:p>
          <a:p>
            <a:r>
              <a:rPr sz="1400">
                <a:solidFill>
                  <a:srgbClr val="1A1A18"/>
                </a:solidFill>
              </a:rPr>
              <a:t>**8. SHAP TreeExplainer** + 정책 매트릭스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각 단계별 출력 → data/processed/*.csv</a:t>
            </a:r>
          </a:p>
          <a:p>
            <a:r>
              <a:rPr sz="1400">
                <a:solidFill>
                  <a:srgbClr val="1A1A18"/>
                </a:solidFill>
              </a:rPr>
              <a:t>재현 명령: `python src/run_all_analysis.py`</a:t>
            </a:r>
          </a:p>
        </p:txBody>
      </p:sp>
      <p:pic>
        <p:nvPicPr>
          <p:cNvPr id="5" name="Picture 4" descr="fig_concept_4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단계 3: ERA5 기상보정 (Fioletov 2025 ACP)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OLS 회귀 (per-site, monthly)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NO₂_raw = β₀ + β₁·u10 + β₂·v10 + β₃·t2m</a:t>
            </a:r>
          </a:p>
          <a:p>
            <a:r>
              <a:rPr sz="1400">
                <a:solidFill>
                  <a:srgbClr val="1A1A18"/>
                </a:solidFill>
              </a:rPr>
              <a:t>        + β₄·tp + β₅·blh + month_dummies + ε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잔차 ε = 배출 활동 신호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R² 분포 (per-site mean)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HCHO: 0.94 (계절성 매우 강함)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SO₂:  0.79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NO₂:  0.76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CO:   0.67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→ 원시 위성 신호의 67-94%가 기상 변동</a:t>
            </a:r>
          </a:p>
          <a:p>
            <a:r>
              <a:rPr sz="1400">
                <a:solidFill>
                  <a:srgbClr val="1A1A18"/>
                </a:solidFill>
              </a:rPr>
              <a:t>→ 보정 후 잔차로 패턴 분석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Robustness check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ERA5 vs MERRA-2 sensitivity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ASOS 지상 관측으로 ERA5 검증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보정 전후 패턴 분류 동일 확인</a:t>
            </a:r>
          </a:p>
        </p:txBody>
      </p:sp>
      <p:pic>
        <p:nvPicPr>
          <p:cNvPr id="5" name="Picture 4" descr="fig_satellit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단계 5: 이상탐지 3층 앙상블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Layer 1: 횡단면 (Cross-sectional)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Isolation Forest (n_estimators=200)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Local Outlier Factor (k=20)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contamination sweep 0.05-0.20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두 모델 동시 이상 = anomaly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Layer 2: 시계열 (Longitudinal)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Mann-Kendall τ + p&lt;0.1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|τ| ≥ 0.4 + 유의 = trend anomaly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Layer 3: 지도학습 (Supervised)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KCGS 2023-2025 분기 등급조정 21건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등급 강등 = 외부 검증 라벨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precision/recall으로 모델 calibration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최종 분류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structural (L1∩L2): 4건 (KEPCO 2020-23)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transient (L1만): 4건 (POSCO 3yr+SK)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longitudinal (L2만): 14건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normal: 93건</a:t>
            </a:r>
          </a:p>
        </p:txBody>
      </p:sp>
      <p:pic>
        <p:nvPicPr>
          <p:cNvPr id="5" name="Picture 4" descr="fig_top6_multi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단계 6: Mann-Kendall 4중 비교 + 패턴 5종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4 시계열 × 23 firms (Gold)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GIR Scope 1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ESG Scope 1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위성 NO₂ (ERA5 보정 잔차)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ODIAC CO₂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각각 τ 계산 → 부호 조합으로 분류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패턴 정의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A_up:    4 채널 모두 ↑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A_down:  4 채널 모두 ↓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B:       ESG만 반대 (B_esg_suspect)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C:       GIR만 반대 (C_gir_suspect)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D:       2+ 채널 반대 (최심각)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E:       무추세 / mixed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Threshold (소샘플 N=5)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|τ| ≥ 0.4 (방향 판정)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p &lt; 0.1 (유의성)</a:t>
            </a:r>
          </a:p>
        </p:txBody>
      </p:sp>
      <p:pic>
        <p:nvPicPr>
          <p:cNvPr id="5" name="Picture 4" descr="fig_mk_tau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단계 7: Heckman 2-stage + Bootstrap CI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Stage 1 (Selection): Probit</a:t>
            </a:r>
          </a:p>
          <a:p>
            <a:r>
              <a:rPr sz="1400">
                <a:solidFill>
                  <a:srgbClr val="1A1A18"/>
                </a:solidFill>
              </a:rPr>
              <a:t>P(ESG_보고 발간 | 기업 특성) = Φ(...)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→ Inverse Mills Ratio (IMR) 계산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Stage 2 (Outcome): FE Panel OLS</a:t>
            </a:r>
          </a:p>
          <a:p>
            <a:r>
              <a:rPr sz="1400">
                <a:solidFill>
                  <a:srgbClr val="1A1A18"/>
                </a:solidFill>
              </a:rPr>
              <a:t>disc_pct = α + β₁·ln(GIR) + β₂·in_KSSB</a:t>
            </a:r>
          </a:p>
          <a:p>
            <a:r>
              <a:rPr sz="1400">
                <a:solidFill>
                  <a:srgbClr val="1A1A18"/>
                </a:solidFill>
              </a:rPr>
              <a:t>         + β₃·IMR + 산업·연도 더미</a:t>
            </a:r>
          </a:p>
          <a:p>
            <a:r>
              <a:rPr sz="1400">
                <a:solidFill>
                  <a:srgbClr val="1A1A18"/>
                </a:solidFill>
              </a:rPr>
              <a:t>         + 클러스터 SE (firm)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Bootstrap 95% CI (B=2000, firm-block)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소샘플 (N=104) 불확실성 정량화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ln(GIR) -2.00 [-8.93, -0.21]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yr_2021 +11.49 [0.13, 32.98]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해석</a:t>
            </a:r>
          </a:p>
          <a:p>
            <a:r>
              <a:rPr sz="1400">
                <a:solidFill>
                  <a:srgbClr val="1A1A18"/>
                </a:solidFill>
              </a:rPr>
              <a:t>대기업일수록 괴리율 낮음</a:t>
            </a:r>
          </a:p>
          <a:p>
            <a:r>
              <a:rPr sz="1400">
                <a:solidFill>
                  <a:srgbClr val="1A1A18"/>
                </a:solidFill>
              </a:rPr>
              <a:t>2021년 일시적 괴리 급증 (코로나 회복기)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단계 8: SHAP TreeExplainer + 정책 매트릭스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SHAP feature_perturbation='interventional'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Path-dependent 편향 회피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8 features: log_GIR, NO₂, SO₂, CO, HCHO,</a:t>
            </a:r>
          </a:p>
          <a:p>
            <a:r>
              <a:rPr sz="1400">
                <a:solidFill>
                  <a:srgbClr val="1A1A18"/>
                </a:solidFill>
              </a:rPr>
              <a:t>  ODIAC, ERA5_BLH, energy_TJ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Feature Importance (mean |SHAP|)</a:t>
            </a:r>
          </a:p>
          <a:p>
            <a:r>
              <a:rPr sz="1400">
                <a:solidFill>
                  <a:srgbClr val="1A1A18"/>
                </a:solidFill>
              </a:rPr>
              <a:t>1. NO₂_resid (위성 보정값)</a:t>
            </a:r>
          </a:p>
          <a:p>
            <a:r>
              <a:rPr sz="1400">
                <a:solidFill>
                  <a:srgbClr val="1A1A18"/>
                </a:solidFill>
              </a:rPr>
              <a:t>2. log(GIR Scope 1)</a:t>
            </a:r>
          </a:p>
          <a:p>
            <a:r>
              <a:rPr sz="1400">
                <a:solidFill>
                  <a:srgbClr val="1A1A18"/>
                </a:solidFill>
              </a:rPr>
              <a:t>3. 괴리율 DIFF_rel</a:t>
            </a:r>
          </a:p>
          <a:p>
            <a:r>
              <a:rPr sz="1400">
                <a:solidFill>
                  <a:srgbClr val="1A1A18"/>
                </a:solidFill>
              </a:rPr>
              <a:t>4. SO₂_resid</a:t>
            </a:r>
          </a:p>
          <a:p>
            <a:r>
              <a:rPr sz="1400">
                <a:solidFill>
                  <a:srgbClr val="1A1A18"/>
                </a:solidFill>
              </a:rPr>
              <a:t>5. ODIAC CO₂</a:t>
            </a:r>
          </a:p>
          <a:p>
            <a:r>
              <a:rPr sz="1400">
                <a:solidFill>
                  <a:srgbClr val="1A1A18"/>
                </a:solidFill>
              </a:rPr>
              <a:t>6. CO_resid</a:t>
            </a:r>
          </a:p>
          <a:p>
            <a:r>
              <a:rPr sz="1400">
                <a:solidFill>
                  <a:srgbClr val="1A1A18"/>
                </a:solidFill>
              </a:rPr>
              <a:t>7. ERA5 BLH</a:t>
            </a:r>
          </a:p>
          <a:p>
            <a:r>
              <a:rPr sz="1400">
                <a:solidFill>
                  <a:srgbClr val="1A1A18"/>
                </a:solidFill>
              </a:rPr>
              <a:t>8. energy_TJ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검증 우선순위 매트릭스</a:t>
            </a:r>
          </a:p>
          <a:p>
            <a:r>
              <a:rPr sz="1400">
                <a:solidFill>
                  <a:srgbClr val="1A1A18"/>
                </a:solidFill>
              </a:rPr>
              <a:t>priority_score = 0.4·괴리 + 0.4·위성불일치</a:t>
            </a:r>
          </a:p>
          <a:p>
            <a:r>
              <a:rPr sz="1400">
                <a:solidFill>
                  <a:srgbClr val="1A1A18"/>
                </a:solidFill>
              </a:rPr>
              <a:t>              + 0.2·이상등급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상위 25% → 즉시 검증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26-50% → 우선 관찰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51-100% → 일반 모니터링</a:t>
            </a:r>
          </a:p>
        </p:txBody>
      </p:sp>
      <p:pic>
        <p:nvPicPr>
          <p:cNvPr id="5" name="Picture 4" descr="fig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괴리 지표 설계 + 산업별 분포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3가지 괴리 지표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절대 괴리: ESG_S1 - GIR_S1 (tCO₂eq)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상대 괴리율: 100·(ESG-GIR)/GIR (%)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방향성: sign(괴리율)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6개 분석 차원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규모 분포 (P10/P50/P90)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방향성 비율 (과소·과대 신고)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연도별 추세 (2019→2023)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업종별 비교 (energy/steel/chem/finance)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검증 여부 효과 (3rd party assurance)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GIR Tier 효과 (T1/T2/T3)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산업별 패턴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철강·발전: 대규모 + 안정적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반도체: 일정 + 효율 개선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화학: 연도별 변동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금융·서비스: Scope 1 미미</a:t>
            </a:r>
          </a:p>
        </p:txBody>
      </p:sp>
      <p:pic>
        <p:nvPicPr>
          <p:cNvPr id="5" name="Picture 4" descr="fig_gi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자동화 수집·파싱 시스템 (영구 deliverable)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구조 (.claude/skills/)</a:t>
            </a:r>
          </a:p>
          <a:p>
            <a:r>
              <a:rPr sz="1400">
                <a:solidFill>
                  <a:srgbClr val="1A1A18"/>
                </a:solidFill>
              </a:rPr>
              <a:t>1. sustainability-report-collect.md</a:t>
            </a:r>
          </a:p>
          <a:p>
            <a:r>
              <a:rPr sz="1400">
                <a:solidFill>
                  <a:srgbClr val="1A1A18"/>
                </a:solidFill>
              </a:rPr>
              <a:t>2. esg-scope-extract.md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수집 파이프라인</a:t>
            </a:r>
          </a:p>
          <a:p>
            <a:r>
              <a:rPr sz="1400">
                <a:solidFill>
                  <a:srgbClr val="1A1A18"/>
                </a:solidFill>
              </a:rPr>
              <a:t>sustainability_report_collector.py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DART Open API → 자율공시 검색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KRX ESG 포털 → Selenium fallback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IR 사이트 → URL pattern matching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SHA-256 deduplication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Resume-safe (interrupted 시 재개)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파싱 파이프라인</a:t>
            </a:r>
          </a:p>
          <a:p>
            <a:r>
              <a:rPr sz="1400">
                <a:solidFill>
                  <a:srgbClr val="1A1A18"/>
                </a:solidFill>
              </a:rPr>
              <a:t>sustainability_report_parser.py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pdfplumber + 정규식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GRI 305-1 자동 추출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신뢰도 플래그 (HIGH/MED/LOW)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단위 정규화 (tCO₂eq)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조직경계·검증·보고기준 추출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재현성</a:t>
            </a:r>
          </a:p>
          <a:p>
            <a:r>
              <a:rPr sz="1400">
                <a:solidFill>
                  <a:srgbClr val="1A1A18"/>
                </a:solidFill>
              </a:rPr>
              <a:t>GitHub public + 4 ADR + .env 템플릿</a:t>
            </a:r>
          </a:p>
          <a:p>
            <a:r>
              <a:rPr sz="1400">
                <a:solidFill>
                  <a:srgbClr val="1A1A18"/>
                </a:solidFill>
              </a:rPr>
              <a:t>→ 누구나 6-8시간 만에 재현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Part 3 결론: 방법론적 강건성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8단계 통합 파이프라인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모든 단계가 학술적 근거 보유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재현 가능 (run_all_analysis.py 1 명령)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4 ADR로 의사결정 추적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Robustness Checks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ERA5 vs MERRA-2 sensitivity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contamination sweep (0.05-0.20)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Bootstrap CI (B=2000, firm-block)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ASOS 지상 검증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패턴 ERA5 보정 전후 동일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다음 Part 4: 결정적 발견 4가지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8"/>
                </a:solidFill>
              </a:rPr>
              <a:t>Part 4 — 결정적 발견 4가지</a:t>
            </a:r>
          </a:p>
          <a:p>
            <a:pPr algn="ctr"/>
            <a:r>
              <a:rPr sz="1800">
                <a:solidFill>
                  <a:srgbClr val="606060"/>
                </a:solidFill>
              </a:rPr>
              <a:t>
패턴 D 2개사 / 이상탐지 / 회귀 / SHAP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발견 ① 패턴 5종 분포 (Gold 23사)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Mann-Kendall 4중 비교 결과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A_consistent_down: 12개사 (52%)</a:t>
            </a:r>
          </a:p>
          <a:p>
            <a:r>
              <a:rPr sz="1400">
                <a:solidFill>
                  <a:srgbClr val="1A1A18"/>
                </a:solidFill>
              </a:rPr>
              <a:t>  탈탄소 정책 정합 — 두산·한화·KEPCO·KT·LGD·현대차 등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mixed: 7개사 (30%)</a:t>
            </a:r>
          </a:p>
          <a:p>
            <a:r>
              <a:rPr sz="1400">
                <a:solidFill>
                  <a:srgbClr val="1A1A18"/>
                </a:solidFill>
              </a:rPr>
              <a:t>  부분 일치 — SK하이닉스·현대제철·롯데쇼핑·한화솔루션 등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D_both_suspect: 2개사 (9%) ⚠️</a:t>
            </a:r>
          </a:p>
          <a:p>
            <a:r>
              <a:rPr sz="1400">
                <a:solidFill>
                  <a:srgbClr val="1A1A18"/>
                </a:solidFill>
              </a:rPr>
              <a:t>  포스코홀딩스·삼성전자 — 공시↑ but 위성·ODIAC↓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C_gir_suspect: 1개사 (4%)</a:t>
            </a:r>
          </a:p>
          <a:p>
            <a:r>
              <a:rPr sz="1400">
                <a:solidFill>
                  <a:srgbClr val="1A1A18"/>
                </a:solidFill>
              </a:rPr>
              <a:t>  현대모비스 — GIR↓·ESG↑ + 위성↓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A_consistent_up: 1개사 (4%)</a:t>
            </a:r>
          </a:p>
          <a:p>
            <a:r>
              <a:rPr sz="1400">
                <a:solidFill>
                  <a:srgbClr val="1A1A18"/>
                </a:solidFill>
              </a:rPr>
              <a:t>  네이버 — 데이터센터 확장 정합</a:t>
            </a:r>
          </a:p>
        </p:txBody>
      </p:sp>
      <p:pic>
        <p:nvPicPr>
          <p:cNvPr id="5" name="Picture 4" descr="fig_pattern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발견 ② 패턴 D 사례 ① — 포스코홀딩스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Mann-Kendall τ (2019-2023)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GIR Scope 1: τ = +1.00 (완벽 상승)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ESG Scope 1: τ = +0.67 (상승)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위성 NO₂:    τ = −1.00 (완벽 하강)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ODIAC CO₂:   τ = −1.00 (완벽 하강)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해석 (3가지 가설)</a:t>
            </a:r>
          </a:p>
          <a:p>
            <a:r>
              <a:rPr sz="1400">
                <a:solidFill>
                  <a:srgbClr val="1A1A18"/>
                </a:solidFill>
              </a:rPr>
              <a:t>H1. 보고경계 확대 (해외 사업장 통합)</a:t>
            </a:r>
          </a:p>
          <a:p>
            <a:r>
              <a:rPr sz="1400">
                <a:solidFill>
                  <a:srgbClr val="1A1A18"/>
                </a:solidFill>
              </a:rPr>
              <a:t>H2. Scope 정의 변경 (간접 → 직접 분류)</a:t>
            </a:r>
          </a:p>
          <a:p>
            <a:r>
              <a:rPr sz="1400">
                <a:solidFill>
                  <a:srgbClr val="1A1A18"/>
                </a:solidFill>
              </a:rPr>
              <a:t>H3. 실제 배출 감소 + 보고 시차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본 분석으로 단정 불가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인과 추론 시도 X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기술적 발견: "방향 불일치 관찰"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후속 검증 필요 (KSSB 시행 시 우선순위)</a:t>
            </a:r>
          </a:p>
        </p:txBody>
      </p:sp>
      <p:pic>
        <p:nvPicPr>
          <p:cNvPr id="5" name="Picture 4" descr="fig_case_stud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발견 ② 패턴 D 사례 ② — 삼성전자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Mann-Kendall τ (2019-2023)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GIR Scope 1: τ = +0.60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ESG Scope 1: τ = +1.00 (최대 상승)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위성 NO₂:    τ = −0.40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ODIAC CO₂:   τ = −0.40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ESG 자체보고가 가장 강한 상승 추세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사업 확장 (반도체 fab 증설)에 따른</a:t>
            </a:r>
          </a:p>
          <a:p>
            <a:r>
              <a:rPr sz="1400">
                <a:solidFill>
                  <a:srgbClr val="1A1A18"/>
                </a:solidFill>
              </a:rPr>
              <a:t>  공시 절대값 증가 보고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그러나 수원·화성 buffer NO₂는 하강</a:t>
            </a:r>
          </a:p>
          <a:p>
            <a:r>
              <a:rPr sz="1400">
                <a:solidFill>
                  <a:srgbClr val="1A1A18"/>
                </a:solidFill>
              </a:rPr>
              <a:t>  (효율 개선 또는 측정 한계)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해석 caveat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수원 본사 좌표 (HQ + 화성 fab 일부)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buffer 10km 내 도시 배경 영향 가능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그럼에도 5년 일관 방향 차이는 유의</a:t>
            </a:r>
          </a:p>
        </p:txBody>
      </p:sp>
      <p:pic>
        <p:nvPicPr>
          <p:cNvPr id="5" name="Picture 4" descr="fig_industrial_no2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패턴 한국 지도 + 산업 맥락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지도 시각화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★ 빨강: D 패턴 (포스코·삼성전자)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◆ 주황: C 패턴 (현대모비스)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● 초록: A up (네이버)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● 파랑: A down (12개사)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● 회색: mixed (7개사)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지리적 패턴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동남부 산업밸트 D 집중 (포스코)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수도권 mixed/down 다수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호남 (KEPCO) structural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Implication</a:t>
            </a:r>
          </a:p>
          <a:p>
            <a:r>
              <a:rPr sz="1400">
                <a:solidFill>
                  <a:srgbClr val="1A1A18"/>
                </a:solidFill>
              </a:rPr>
              <a:t>KSSB 49사 의무공시 1차 적용 시</a:t>
            </a:r>
          </a:p>
          <a:p>
            <a:r>
              <a:rPr sz="1400">
                <a:solidFill>
                  <a:srgbClr val="1A1A18"/>
                </a:solidFill>
              </a:rPr>
              <a:t>패턴 D·C 기업을 우선 검증 대상으로</a:t>
            </a:r>
          </a:p>
          <a:p>
            <a:r>
              <a:rPr sz="1400">
                <a:solidFill>
                  <a:srgbClr val="1A1A18"/>
                </a:solidFill>
              </a:rPr>
              <a:t>지정 → 정책 자원 효율 배분</a:t>
            </a:r>
          </a:p>
        </p:txBody>
      </p:sp>
      <p:pic>
        <p:nvPicPr>
          <p:cNvPr id="5" name="Picture 4" descr="fig_map_patte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발견 ③ 이상탐지 3층 앙상블 (115 firm-year)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최종 분류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structural (L1∩L2): 4건</a:t>
            </a:r>
          </a:p>
          <a:p>
            <a:r>
              <a:rPr sz="1400">
                <a:solidFill>
                  <a:srgbClr val="1A1A18"/>
                </a:solidFill>
              </a:rPr>
              <a:t>  → 한국전력공사 2020-2023 (4년 연속)</a:t>
            </a:r>
          </a:p>
          <a:p>
            <a:r>
              <a:rPr sz="1400">
                <a:solidFill>
                  <a:srgbClr val="1A1A18"/>
                </a:solidFill>
              </a:rPr>
              <a:t>  → 단일 최대 배출자 절대값 효과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transient (L1만): 4건</a:t>
            </a:r>
          </a:p>
          <a:p>
            <a:r>
              <a:rPr sz="1400">
                <a:solidFill>
                  <a:srgbClr val="1A1A18"/>
                </a:solidFill>
              </a:rPr>
              <a:t>  → 포스코홀딩스 2021·2022·2023 (3년 연속) ⚠️</a:t>
            </a:r>
          </a:p>
          <a:p>
            <a:r>
              <a:rPr sz="1400">
                <a:solidFill>
                  <a:srgbClr val="1A1A18"/>
                </a:solidFill>
              </a:rPr>
              <a:t>  → SK하이닉스 2021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longitudinal (L2만): 14건</a:t>
            </a:r>
          </a:p>
          <a:p>
            <a:r>
              <a:rPr sz="1400">
                <a:solidFill>
                  <a:srgbClr val="1A1A18"/>
                </a:solidFill>
              </a:rPr>
              <a:t>  → 5년 추세는 비정상이나 단년 정상</a:t>
            </a:r>
          </a:p>
          <a:p>
            <a:r>
              <a:rPr sz="1400">
                <a:solidFill>
                  <a:srgbClr val="1A1A18"/>
                </a:solidFill>
              </a:rPr>
              <a:t>  → 추세 안정성 의심 firms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normal: 93건 (81%)</a:t>
            </a:r>
          </a:p>
          <a:p>
            <a:r>
              <a:rPr sz="1400">
                <a:solidFill>
                  <a:srgbClr val="1A1A18"/>
                </a:solidFill>
              </a:rPr>
              <a:t>  → 두 layer 모두 정상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Contamination Sensitivity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c=0.05 → 4 anomalies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c=0.10 → 8 anomalies (default)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c=0.15 → 17 anomalies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c=0.20 → 21 anomalies</a:t>
            </a:r>
          </a:p>
        </p:txBody>
      </p:sp>
      <p:pic>
        <p:nvPicPr>
          <p:cNvPr id="5" name="Picture 4" descr="fig_top6_multi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발견 ④ Heckman 2-stage 패널 회귀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Stage 2 결과 (N=104, 23 firms)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| 변수 | β | Bootstrap 95% CI |</a:t>
            </a:r>
          </a:p>
          <a:p>
            <a:r>
              <a:rPr sz="1400">
                <a:solidFill>
                  <a:srgbClr val="1A1A18"/>
                </a:solidFill>
              </a:rPr>
              <a:t>|---|---|---|</a:t>
            </a:r>
          </a:p>
          <a:p>
            <a:r>
              <a:rPr sz="1400">
                <a:solidFill>
                  <a:srgbClr val="1A1A18"/>
                </a:solidFill>
              </a:rPr>
              <a:t>| **ln(GIR)** | **−2.00** | **[−8.93, −0.21]** ⭐ |</a:t>
            </a:r>
          </a:p>
          <a:p>
            <a:r>
              <a:rPr sz="1400">
                <a:solidFill>
                  <a:srgbClr val="1A1A18"/>
                </a:solidFill>
              </a:rPr>
              <a:t>| in_KSSB_30 | (perfect predict) | dropped |</a:t>
            </a:r>
          </a:p>
          <a:p>
            <a:r>
              <a:rPr sz="1400">
                <a:solidFill>
                  <a:srgbClr val="1A1A18"/>
                </a:solidFill>
              </a:rPr>
              <a:t>| IMR | −12.69 | [−46.70, +2.26] |</a:t>
            </a:r>
          </a:p>
          <a:p>
            <a:r>
              <a:rPr sz="1400">
                <a:solidFill>
                  <a:srgbClr val="1A1A18"/>
                </a:solidFill>
              </a:rPr>
              <a:t>| yr_2020 | −2.36 | [−12.26, +1.13] |</a:t>
            </a:r>
          </a:p>
          <a:p>
            <a:r>
              <a:rPr sz="1400">
                <a:solidFill>
                  <a:srgbClr val="1A1A18"/>
                </a:solidFill>
              </a:rPr>
              <a:t>| **yr_2021** | **+11.49** | **[+0.13, +32.98]** ⭐ |</a:t>
            </a:r>
          </a:p>
          <a:p>
            <a:r>
              <a:rPr sz="1400">
                <a:solidFill>
                  <a:srgbClr val="1A1A18"/>
                </a:solidFill>
              </a:rPr>
              <a:t>| yr_2022 | −6.60 | [−29.10, +2.82] |</a:t>
            </a:r>
          </a:p>
          <a:p>
            <a:r>
              <a:rPr sz="1400">
                <a:solidFill>
                  <a:srgbClr val="1A1A18"/>
                </a:solidFill>
              </a:rPr>
              <a:t>| yr_2023 | −6.30 | [−28.44, +3.05] |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해석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대기업일수록 괴리율 낮음 (정확 보고)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2021년 일시적 괴리 급증 (코로나 회복)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IMR borderline (선택편향 존재 시사)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산업 더미 통제 + cluster SE by firm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SHAP 기여도 분해 (전체 firms)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SHAP Feature Importance</a:t>
            </a:r>
          </a:p>
          <a:p>
            <a:r>
              <a:rPr sz="1400">
                <a:solidFill>
                  <a:srgbClr val="1A1A18"/>
                </a:solidFill>
              </a:rPr>
              <a:t>mean |SHAP| 순위:</a:t>
            </a:r>
          </a:p>
          <a:p>
            <a:r>
              <a:rPr sz="1400">
                <a:solidFill>
                  <a:srgbClr val="1A1A18"/>
                </a:solidFill>
              </a:rPr>
              <a:t>1. NO₂_resid (기상보정 잔차)</a:t>
            </a:r>
          </a:p>
          <a:p>
            <a:r>
              <a:rPr sz="1400">
                <a:solidFill>
                  <a:srgbClr val="1A1A18"/>
                </a:solidFill>
              </a:rPr>
              <a:t>2. log(GIR Scope 1)</a:t>
            </a:r>
          </a:p>
          <a:p>
            <a:r>
              <a:rPr sz="1400">
                <a:solidFill>
                  <a:srgbClr val="1A1A18"/>
                </a:solidFill>
              </a:rPr>
              <a:t>3. 괴리율 DIFF_rel</a:t>
            </a:r>
          </a:p>
          <a:p>
            <a:r>
              <a:rPr sz="1400">
                <a:solidFill>
                  <a:srgbClr val="1A1A18"/>
                </a:solidFill>
              </a:rPr>
              <a:t>4. SO₂_resid</a:t>
            </a:r>
          </a:p>
          <a:p>
            <a:r>
              <a:rPr sz="1400">
                <a:solidFill>
                  <a:srgbClr val="1A1A18"/>
                </a:solidFill>
              </a:rPr>
              <a:t>5. ODIAC CO₂</a:t>
            </a:r>
          </a:p>
          <a:p>
            <a:r>
              <a:rPr sz="1400">
                <a:solidFill>
                  <a:srgbClr val="1A1A18"/>
                </a:solidFill>
              </a:rPr>
              <a:t>6. CO_resid</a:t>
            </a:r>
          </a:p>
          <a:p>
            <a:r>
              <a:rPr sz="1400">
                <a:solidFill>
                  <a:srgbClr val="1A1A18"/>
                </a:solidFill>
              </a:rPr>
              <a:t>7. ERA5 BLH</a:t>
            </a:r>
          </a:p>
          <a:p>
            <a:r>
              <a:rPr sz="1400">
                <a:solidFill>
                  <a:srgbClr val="1A1A18"/>
                </a:solidFill>
              </a:rPr>
              <a:t>8. energy_TJ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Implication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위성 신호가 GIR 절대값보다 더 강한 예측력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4중 비교의 가치 입증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ODIAC이 지지하는 결정적 firms 식별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TreeExplainer 옵션</a:t>
            </a:r>
          </a:p>
          <a:p>
            <a:r>
              <a:rPr sz="1400">
                <a:solidFill>
                  <a:srgbClr val="1A1A18"/>
                </a:solidFill>
              </a:rPr>
              <a:t>feature_perturbation='interventional'</a:t>
            </a:r>
          </a:p>
          <a:p>
            <a:r>
              <a:rPr sz="1400">
                <a:solidFill>
                  <a:srgbClr val="1A1A18"/>
                </a:solidFill>
              </a:rPr>
              <a:t>→ Path-dependent 편향 회피</a:t>
            </a:r>
          </a:p>
        </p:txBody>
      </p:sp>
      <p:pic>
        <p:nvPicPr>
          <p:cNvPr id="5" name="Picture 4" descr="fig_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SHAP Waterfall — Top 5 이상 firms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개별 firm 분해 (Top 5)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각 firm의 이상 점수가</a:t>
            </a:r>
          </a:p>
          <a:p>
            <a:r>
              <a:rPr sz="1400">
                <a:solidFill>
                  <a:srgbClr val="1A1A18"/>
                </a:solidFill>
              </a:rPr>
              <a:t>어떤 feature 조합으로 결정됐는지 분해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한국전력공사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log(GIR) 절대 규모가 압도적 기여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위성 신호 중간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포스코홀딩스 (3년 연속 transient)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NO₂_resid 하락 + GIR 상승 방향 불일치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ODIAC CO₂도 동일 방향 → 강한 신호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Interpretation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Firm-specific 정책 권고 가능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"왜 이 firm이 이상으로 탐지됐는가"</a:t>
            </a:r>
          </a:p>
          <a:p>
            <a:r>
              <a:rPr sz="1400">
                <a:solidFill>
                  <a:srgbClr val="1A1A18"/>
                </a:solidFill>
              </a:rPr>
              <a:t>  를 인간이 해석 가능한 언어로 제시</a:t>
            </a:r>
          </a:p>
        </p:txBody>
      </p:sp>
      <p:pic>
        <p:nvPicPr>
          <p:cNvPr id="5" name="Picture 4" descr="fig_shap_waterfall_top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검증 우선순위 매트릭스 (Top 10)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priority_score 계산식</a:t>
            </a:r>
          </a:p>
          <a:p>
            <a:r>
              <a:rPr sz="1400">
                <a:solidFill>
                  <a:srgbClr val="1A1A18"/>
                </a:solidFill>
              </a:rPr>
              <a:t>0.4·괴리심각도 + 0.4·위성불일치 + 0.2·이상등급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상위 10개사 (KSSB 2028 대상)</a:t>
            </a:r>
          </a:p>
          <a:p>
            <a:r>
              <a:rPr sz="1400">
                <a:solidFill>
                  <a:srgbClr val="1A1A18"/>
                </a:solidFill>
              </a:rPr>
              <a:t>1. 한국전력공사     0.54</a:t>
            </a:r>
          </a:p>
          <a:p>
            <a:r>
              <a:rPr sz="1400">
                <a:solidFill>
                  <a:srgbClr val="1A1A18"/>
                </a:solidFill>
              </a:rPr>
              <a:t>2. 포스코홀딩스     0.47</a:t>
            </a:r>
          </a:p>
          <a:p>
            <a:r>
              <a:rPr sz="1400">
                <a:solidFill>
                  <a:srgbClr val="1A1A18"/>
                </a:solidFill>
              </a:rPr>
              <a:t>3. LG에너지솔루션   0.40</a:t>
            </a:r>
          </a:p>
          <a:p>
            <a:r>
              <a:rPr sz="1400">
                <a:solidFill>
                  <a:srgbClr val="1A1A18"/>
                </a:solidFill>
              </a:rPr>
              <a:t>4. 네이버           0.40</a:t>
            </a:r>
          </a:p>
          <a:p>
            <a:r>
              <a:rPr sz="1400">
                <a:solidFill>
                  <a:srgbClr val="1A1A18"/>
                </a:solidFill>
              </a:rPr>
              <a:t>5. CJ제일제당       0.38</a:t>
            </a:r>
          </a:p>
          <a:p>
            <a:r>
              <a:rPr sz="1400">
                <a:solidFill>
                  <a:srgbClr val="1A1A18"/>
                </a:solidFill>
              </a:rPr>
              <a:t>6. LG디스플레이     0.31</a:t>
            </a:r>
          </a:p>
          <a:p>
            <a:r>
              <a:rPr sz="1400">
                <a:solidFill>
                  <a:srgbClr val="1A1A18"/>
                </a:solidFill>
              </a:rPr>
              <a:t>7. SK하이닉스       0.30</a:t>
            </a:r>
          </a:p>
          <a:p>
            <a:r>
              <a:rPr sz="1400">
                <a:solidFill>
                  <a:srgbClr val="1A1A18"/>
                </a:solidFill>
              </a:rPr>
              <a:t>8. 이마트           0.30</a:t>
            </a:r>
          </a:p>
          <a:p>
            <a:r>
              <a:rPr sz="1400">
                <a:solidFill>
                  <a:srgbClr val="1A1A18"/>
                </a:solidFill>
              </a:rPr>
              <a:t>9. 롯데쇼핑         0.30</a:t>
            </a:r>
          </a:p>
          <a:p>
            <a:r>
              <a:rPr sz="1400">
                <a:solidFill>
                  <a:srgbClr val="1A1A18"/>
                </a:solidFill>
              </a:rPr>
              <a:t>10. 삼성전자        0.28 (D 패턴)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활용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상위 25% → 즉시 검증 대상 지정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KEITI 환경부 검증 자원 차등 배분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KSSB 시행령에 priority 명시</a:t>
            </a:r>
          </a:p>
        </p:txBody>
      </p:sp>
      <p:pic>
        <p:nvPicPr>
          <p:cNvPr id="5" name="Picture 4" descr="fig_prior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8"/>
                </a:solidFill>
              </a:rPr>
              <a:t>Part 5 — 정책 함의와 결론</a:t>
            </a:r>
          </a:p>
          <a:p>
            <a:pPr algn="ctr"/>
            <a:r>
              <a:rPr sz="1800">
                <a:solidFill>
                  <a:srgbClr val="606060"/>
                </a:solidFill>
              </a:rPr>
              <a:t>
3 정책 카드 + KSSB 활용 + 한계 + 향후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정책 카드 ① — KEITI 환경책임투자 플랫폼 DRI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Disclosure Reliability Index (DRI) 신설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KEITI 환경책임투자 플랫폼에</a:t>
            </a:r>
          </a:p>
          <a:p>
            <a:r>
              <a:rPr sz="1400">
                <a:solidFill>
                  <a:srgbClr val="1A1A18"/>
                </a:solidFill>
              </a:rPr>
              <a:t>4중 검증 신뢰성 지수 편입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DRI 구성요소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GIR-ESG 괴리율 (40%)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위성·ODIAC 일관성 점수 (40%)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이상탐지 등급 (20%)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활용 방식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투자자 공개 지수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ESG 펀드 운용 reference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책임 투자 자본 배분 정확성 향상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선행 사례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MSCI ESG Rating + Sustainalytics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본 연구는 위성 기반 객관 측정 추가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정책 카드 ② — 우선순위 매트릭스 차등 검증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KSSB 2028 49개사 차등 자원 배분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상위 25% → 즉시 검증 대상</a:t>
            </a:r>
          </a:p>
          <a:p>
            <a:r>
              <a:rPr sz="1400">
                <a:solidFill>
                  <a:srgbClr val="1A1A18"/>
                </a:solidFill>
              </a:rPr>
              <a:t>  - 환경부 + 검증기관 합동 현장 점검</a:t>
            </a:r>
          </a:p>
          <a:p>
            <a:r>
              <a:rPr sz="1400">
                <a:solidFill>
                  <a:srgbClr val="1A1A18"/>
                </a:solidFill>
              </a:rPr>
              <a:t>  - 패턴 D · 구조적 이상 firms 우선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26-50% → 우선 관찰</a:t>
            </a:r>
          </a:p>
          <a:p>
            <a:r>
              <a:rPr sz="1400">
                <a:solidFill>
                  <a:srgbClr val="1A1A18"/>
                </a:solidFill>
              </a:rPr>
              <a:t>  - 분기별 데이터 모니터링</a:t>
            </a:r>
          </a:p>
          <a:p>
            <a:r>
              <a:rPr sz="1400">
                <a:solidFill>
                  <a:srgbClr val="1A1A18"/>
                </a:solidFill>
              </a:rPr>
              <a:t>  - 위성 신호 trend 분석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51-100% → 일반 모니터링</a:t>
            </a:r>
          </a:p>
          <a:p>
            <a:r>
              <a:rPr sz="1400">
                <a:solidFill>
                  <a:srgbClr val="1A1A18"/>
                </a:solidFill>
              </a:rPr>
              <a:t>  - 연 1회 routine 점검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기대 효과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한정된 검증 자원의 효율 배분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무작위 선별 대비 검증 효율 극대화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데이터 기반 정책 결정 정착</a:t>
            </a:r>
          </a:p>
        </p:txBody>
      </p:sp>
      <p:pic>
        <p:nvPicPr>
          <p:cNvPr id="5" name="Picture 4" descr="fig_priority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정책 카드 ③ — KSSB 제2호 시행령 강화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3단계 프로토콜 의무화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Step 1: GIR-ESG 대조표 첨부</a:t>
            </a:r>
          </a:p>
          <a:p>
            <a:r>
              <a:rPr sz="1400">
                <a:solidFill>
                  <a:srgbClr val="1A1A18"/>
                </a:solidFill>
              </a:rPr>
              <a:t>  - 모든 의무공시 보고서에</a:t>
            </a:r>
          </a:p>
          <a:p>
            <a:r>
              <a:rPr sz="1400">
                <a:solidFill>
                  <a:srgbClr val="1A1A18"/>
                </a:solidFill>
              </a:rPr>
              <a:t>    GIR vs ESG 괴리율 표 의무 첨부</a:t>
            </a:r>
          </a:p>
          <a:p>
            <a:r>
              <a:rPr sz="1400">
                <a:solidFill>
                  <a:srgbClr val="1A1A18"/>
                </a:solidFill>
              </a:rPr>
              <a:t>  - 괴리율 ±20% 초과 시 사유 설명 의무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Step 2: 위성 모니터링 연계</a:t>
            </a:r>
          </a:p>
          <a:p>
            <a:r>
              <a:rPr sz="1400">
                <a:solidFill>
                  <a:srgbClr val="1A1A18"/>
                </a:solidFill>
              </a:rPr>
              <a:t>  - Sentinel-5P 사업장 buffer 신호</a:t>
            </a:r>
          </a:p>
          <a:p>
            <a:r>
              <a:rPr sz="1400">
                <a:solidFill>
                  <a:srgbClr val="1A1A18"/>
                </a:solidFill>
              </a:rPr>
              <a:t>  - ODIAC CO₂ 1km 비교</a:t>
            </a:r>
          </a:p>
          <a:p>
            <a:r>
              <a:rPr sz="1400">
                <a:solidFill>
                  <a:srgbClr val="1A1A18"/>
                </a:solidFill>
              </a:rPr>
              <a:t>  - 환경부 → KSSB 정기 보고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Step 3: 독립 검증기관 지정</a:t>
            </a:r>
          </a:p>
          <a:p>
            <a:r>
              <a:rPr sz="1400">
                <a:solidFill>
                  <a:srgbClr val="1A1A18"/>
                </a:solidFill>
              </a:rPr>
              <a:t>  - 패턴 D 또는 괴리율 ±20% 초과 firms</a:t>
            </a:r>
          </a:p>
          <a:p>
            <a:r>
              <a:rPr sz="1400">
                <a:solidFill>
                  <a:srgbClr val="1A1A18"/>
                </a:solidFill>
              </a:rPr>
              <a:t>  - 환경부 지정 검증기관 현장 검증</a:t>
            </a:r>
          </a:p>
          <a:p>
            <a:r>
              <a:rPr sz="1400">
                <a:solidFill>
                  <a:srgbClr val="1A1A18"/>
                </a:solidFill>
              </a:rPr>
              <a:t>  - EU CBAM 대응 탄소회계 신뢰성 확보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KSSB 2028 즉시 활용 경로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Gold 23사 → KSSB 49사 매핑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본 연구 대상이 KSSB 1차 49개사와</a:t>
            </a:r>
          </a:p>
          <a:p>
            <a:r>
              <a:rPr sz="1400">
                <a:solidFill>
                  <a:srgbClr val="1A1A18"/>
                </a:solidFill>
              </a:rPr>
              <a:t>대부분 교집합 → 즉시 적용 가능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3가지 즉시 활용 경로</a:t>
            </a:r>
          </a:p>
          <a:p>
            <a:r>
              <a:rPr sz="1400">
                <a:solidFill>
                  <a:srgbClr val="1A1A18"/>
                </a:solidFill>
              </a:rPr>
              <a:t>1. 검증기관 인력 양성</a:t>
            </a:r>
          </a:p>
          <a:p>
            <a:r>
              <a:rPr sz="1400">
                <a:solidFill>
                  <a:srgbClr val="1A1A18"/>
                </a:solidFill>
              </a:rPr>
              <a:t>   - 위성 분석 역량 인증 프로그램</a:t>
            </a:r>
          </a:p>
          <a:p>
            <a:r>
              <a:rPr sz="1400">
                <a:solidFill>
                  <a:srgbClr val="1A1A18"/>
                </a:solidFill>
              </a:rPr>
              <a:t>   - 본 연구 도구 (run_all_analysis.py)</a:t>
            </a:r>
          </a:p>
          <a:p>
            <a:r>
              <a:rPr sz="1400">
                <a:solidFill>
                  <a:srgbClr val="1A1A18"/>
                </a:solidFill>
              </a:rPr>
              <a:t>     교육 자료로 활용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2. 시행령 제정</a:t>
            </a:r>
          </a:p>
          <a:p>
            <a:r>
              <a:rPr sz="1400">
                <a:solidFill>
                  <a:srgbClr val="1A1A18"/>
                </a:solidFill>
              </a:rPr>
              <a:t>   - 본 연구 priority_score 직접 인용</a:t>
            </a:r>
          </a:p>
          <a:p>
            <a:r>
              <a:rPr sz="1400">
                <a:solidFill>
                  <a:srgbClr val="1A1A18"/>
                </a:solidFill>
              </a:rPr>
              <a:t>   - 패턴 D 정의 → 우선 검증 기준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3. GEE 시스템 구축</a:t>
            </a:r>
          </a:p>
          <a:p>
            <a:r>
              <a:rPr sz="1400">
                <a:solidFill>
                  <a:srgbClr val="1A1A18"/>
                </a:solidFill>
              </a:rPr>
              <a:t>   - 환경부·KSSB 공동 GEE 워크스페이스</a:t>
            </a:r>
          </a:p>
          <a:p>
            <a:r>
              <a:rPr sz="1400">
                <a:solidFill>
                  <a:srgbClr val="1A1A18"/>
                </a:solidFill>
              </a:rPr>
              <a:t>   - 자동화 수집·파싱 파이프라인 적용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종합 논의 — 패턴 D 가설 3가지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가설 1: 보고경계 확대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해외 자회사 신규 통합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연결 범위 변경</a:t>
            </a:r>
          </a:p>
          <a:p>
            <a:r>
              <a:rPr sz="1400">
                <a:solidFill>
                  <a:srgbClr val="1A1A18"/>
                </a:solidFill>
              </a:rPr>
              <a:t>→ ESG 절대값 증가, 국내 GIR과 분리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가설 2: Scope 정의 변경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Scope 1 → Scope 2 reclassification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자가발전 vs 외부 전력 처리 차이</a:t>
            </a:r>
          </a:p>
          <a:p>
            <a:r>
              <a:rPr sz="1400">
                <a:solidFill>
                  <a:srgbClr val="1A1A18"/>
                </a:solidFill>
              </a:rPr>
              <a:t>→ 분류 변경에 따른 절대값 변화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가설 3: 실제 배출 감소 + 보고 시차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효율 개선 (CO₂ 회수, 폐열 활용)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보고는 작년 데이터 → 1년 시차</a:t>
            </a:r>
          </a:p>
          <a:p>
            <a:r>
              <a:rPr sz="1400">
                <a:solidFill>
                  <a:srgbClr val="1A1A18"/>
                </a:solidFill>
              </a:rPr>
              <a:t>→ 위성은 즉시 반영, 보고는 지연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검증 방법</a:t>
            </a:r>
          </a:p>
          <a:p>
            <a:r>
              <a:rPr sz="1400">
                <a:solidFill>
                  <a:srgbClr val="1A1A18"/>
                </a:solidFill>
              </a:rPr>
              <a:t>본 분석으로 단정 불가 — 후속 현장 검증 필요</a:t>
            </a:r>
          </a:p>
          <a:p>
            <a:r>
              <a:rPr sz="1400">
                <a:solidFill>
                  <a:srgbClr val="1A1A18"/>
                </a:solidFill>
              </a:rPr>
              <a:t>인과 추론 시도하지 않고 기술적 서술만 유지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방법론 강건성 종합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ERA5 보정 강건성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보정 전후 패턴 분류 동일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HCHO R²=0.94, NO₂ R²=0.76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MERRA-2 sensitivity 일치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이상탐지 강건성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contamination sweep (0.05-0.20)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IF + LOF 앙상블 false positive 감소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KCGS 21건 supervised 검증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회귀 강건성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Bootstrap 95% CI (B=2000, firm-block)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cluster SE by firm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industry × year fixed effects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ASOS 지상 검증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ERA5 vs ASOS 5 stations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평균 거리 9.2 km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격자 모델 vs 지점 관측 sanity check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한계 및 대응 매트릭스 (8가지)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>
                <a:solidFill>
                  <a:srgbClr val="1A1A18"/>
                </a:solidFill>
              </a:rPr>
              <a:t>**L1 소샘플** (N=23) → Bootstrap CI, Silver 확장</a:t>
            </a:r>
          </a:p>
          <a:p>
            <a:r>
              <a:rPr sz="1400">
                <a:solidFill>
                  <a:srgbClr val="1A1A18"/>
                </a:solidFill>
              </a:rPr>
              <a:t>**L2 인과 추론 불가** → "관찰" 기술적 서술만</a:t>
            </a:r>
          </a:p>
          <a:p>
            <a:r>
              <a:rPr sz="1400">
                <a:solidFill>
                  <a:srgbClr val="1A1A18"/>
                </a:solidFill>
              </a:rPr>
              <a:t>**L3 조직경계 잔존 불확실성** → 3계층 샘플</a:t>
            </a:r>
          </a:p>
          <a:p>
            <a:r>
              <a:rPr sz="1400">
                <a:solidFill>
                  <a:srgbClr val="1A1A18"/>
                </a:solidFill>
              </a:rPr>
              <a:t>**L4 NO₂ ≠ CO₂ 등가 아님** → ODIAC 추가, 5채널 과반</a:t>
            </a:r>
          </a:p>
          <a:p>
            <a:r>
              <a:rPr sz="1400">
                <a:solidFill>
                  <a:srgbClr val="1A1A18"/>
                </a:solidFill>
              </a:rPr>
              <a:t>**L5 본사 좌표 사용 firms** → 8.0 신규 한계 명시</a:t>
            </a:r>
          </a:p>
          <a:p>
            <a:r>
              <a:rPr sz="1400">
                <a:solidFill>
                  <a:srgbClr val="1A1A18"/>
                </a:solidFill>
              </a:rPr>
              <a:t>**L6 5년 시계열 짧음** → MK p&lt;0.1 + |τ|≥0.4 완화</a:t>
            </a:r>
          </a:p>
          <a:p>
            <a:r>
              <a:rPr sz="1400">
                <a:solidFill>
                  <a:srgbClr val="1A1A18"/>
                </a:solidFill>
              </a:rPr>
              <a:t>**L7 contamination 자의성** → KCGS 라벨 calibration</a:t>
            </a:r>
          </a:p>
          <a:p>
            <a:r>
              <a:rPr sz="1400">
                <a:solidFill>
                  <a:srgbClr val="1A1A18"/>
                </a:solidFill>
              </a:rPr>
              <a:t>**L8 ESG PDF 11 구조적 미발간** → 명문화 (네이버 2019 등)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핵심: 본 연구의 한계 transparency</a:t>
            </a:r>
          </a:p>
          <a:p>
            <a:r>
              <a:rPr sz="1400">
                <a:solidFill>
                  <a:srgbClr val="1A1A18"/>
                </a:solidFill>
              </a:rPr>
              <a:t>모든 한계가 보고서·코드·ADR에 명시되어</a:t>
            </a:r>
          </a:p>
          <a:p>
            <a:r>
              <a:rPr sz="1400">
                <a:solidFill>
                  <a:srgbClr val="1A1A18"/>
                </a:solidFill>
              </a:rPr>
              <a:t>후속 연구가 즉시 boundary 인지 가능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향후 과제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확장 1: Silver 205사로 통계적 검정력 강화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패널 N=23 → 1,025 firm-year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회귀 자유도 충분 → 강건한 인과 추론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확장 2: LSTM Autoencoder 시계열 이상탐지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현재 Mann-Kendall (단순)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LSTM-AE → 비선형 패턴 + 장기 의존성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확장 3: Sentinel-5P CH₄ 추가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에너지 업종 메탄 배출 검증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LNG·정유·축산 firms 확장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확장 4: 다중 buffer 가중합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사업장 복수 보유 firms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사업장별 조업률 가중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더 정확한 firm-level 신호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확장 5: KSSB 2028 시행 후 비교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의무공시 시행 전후 패턴 변화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본 연구 검증 체계의 효과성 평가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핵심 기여 한 문장 +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한 줄 정리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"한국 코스피 상장기업의 GIR 법정 배출량,</a:t>
            </a:r>
          </a:p>
          <a:p>
            <a:r>
              <a:rPr sz="1400">
                <a:solidFill>
                  <a:srgbClr val="1A1A18"/>
                </a:solidFill>
              </a:rPr>
              <a:t>ESG 자체보고, Sentinel-5P 위성 4종, ODIAC CO₂를</a:t>
            </a:r>
          </a:p>
          <a:p>
            <a:r>
              <a:rPr sz="1400">
                <a:solidFill>
                  <a:srgbClr val="1A1A18"/>
                </a:solidFill>
              </a:rPr>
              <a:t>ERA5 기상보정 후 4중으로 비교해</a:t>
            </a:r>
          </a:p>
          <a:p>
            <a:r>
              <a:rPr sz="1400">
                <a:solidFill>
                  <a:srgbClr val="1A1A18"/>
                </a:solidFill>
              </a:rPr>
              <a:t>Mann-Kendall 기반 공시 불일치 5종 패턴을 분류하고,</a:t>
            </a:r>
          </a:p>
          <a:p>
            <a:r>
              <a:rPr sz="1400">
                <a:solidFill>
                  <a:srgbClr val="1A1A18"/>
                </a:solidFill>
              </a:rPr>
              <a:t>Heckman·이상탐지 3층·SHAP를 통해 KSSB 2028</a:t>
            </a:r>
          </a:p>
          <a:p>
            <a:r>
              <a:rPr sz="1400">
                <a:solidFill>
                  <a:srgbClr val="1A1A18"/>
                </a:solidFill>
              </a:rPr>
              <a:t>의무공시 검증 우선순위 프레임워크를 설계하여</a:t>
            </a:r>
          </a:p>
          <a:p>
            <a:r>
              <a:rPr sz="1400">
                <a:solidFill>
                  <a:srgbClr val="1A1A18"/>
                </a:solidFill>
              </a:rPr>
              <a:t>포스코홀딩스(τ=±1.00 극단)와 삼성전자에서</a:t>
            </a:r>
          </a:p>
          <a:p>
            <a:r>
              <a:rPr sz="1400">
                <a:solidFill>
                  <a:srgbClr val="1A1A18"/>
                </a:solidFill>
              </a:rPr>
              <a:t>패턴 D를 처음으로 정량적으로 식별했다."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Q&amp;A 컨택트</a:t>
            </a:r>
          </a:p>
          <a:p>
            <a:r>
              <a:rPr sz="1400">
                <a:solidFill>
                  <a:srgbClr val="1A1A18"/>
                </a:solidFill>
              </a:rPr>
              <a:t>zxsa0716@kookmin.ac.kr</a:t>
            </a:r>
          </a:p>
          <a:p>
            <a:r>
              <a:rPr sz="1400">
                <a:solidFill>
                  <a:srgbClr val="1A1A18"/>
                </a:solidFill>
              </a:rPr>
              <a:t>GitHub: https://github.com/zxsa0716/AX_Contest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감사합니다</a:t>
            </a:r>
          </a:p>
        </p:txBody>
      </p:sp>
      <p:pic>
        <p:nvPicPr>
          <p:cNvPr id="5" name="Picture 4" descr="fig_concept_4cha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5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1A18"/>
                </a:solidFill>
              </a:rPr>
              <a:t>Part 6 — 23개사 산업별 심층 분석</a:t>
            </a:r>
          </a:p>
          <a:p>
            <a:pPr algn="ctr"/>
            <a:r>
              <a:rPr sz="1800">
                <a:solidFill>
                  <a:srgbClr val="606060"/>
                </a:solidFill>
              </a:rPr>
              <a:t>
패턴 분류 결과의 사업 맥락 해석 + 8 신규 시각화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Sentinel-5P 4종 위성 신호 한국 분포 (2023)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4 panel 비교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NO₂ (위, 좌): 산업·교통 NOx 배출 추적자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SO₂ (위, 우): 화력발전·제철 특화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CO (아래, 좌): 불완전 연소 (장수명)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HCHO (아래, 우): 석유화학 VOC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관찰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NO₂: 수도권·울산·여수·포항 hotspot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SO₂: 한정된 석탄·제철 cluster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CO: 광범위 (수송 + 산업)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HCHO: 여수·울산 석유화학 단지 집중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해석</a:t>
            </a:r>
          </a:p>
          <a:p>
            <a:r>
              <a:rPr sz="1400">
                <a:solidFill>
                  <a:srgbClr val="1A1A18"/>
                </a:solidFill>
              </a:rPr>
              <a:t>4 species 동시 비교로 산업 특성에 맞는</a:t>
            </a:r>
          </a:p>
          <a:p>
            <a:r>
              <a:rPr sz="1400">
                <a:solidFill>
                  <a:srgbClr val="1A1A18"/>
                </a:solidFill>
              </a:rPr>
              <a:t>위성 채널 선택 가능 (예: 철강은 NO₂+SO₂)</a:t>
            </a:r>
          </a:p>
        </p:txBody>
      </p:sp>
      <p:pic>
        <p:nvPicPr>
          <p:cNvPr id="5" name="Picture 4" descr="fig_s5p_4species_kore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ODIAC CO₂ 2019 vs 2023 변화 (한국 전체)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3 panel 비교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좌: 2019-07 ODIAC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중: 2023-07 ODIAC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우: 차이 (2023-2019, 빨강=증가)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관찰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수도권 일부 영역 증가 (데이터센터·인구)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일부 산업단지 감소 (탈탄소 효과)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전국 합산은 약간 감소 추세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시사점</a:t>
            </a:r>
          </a:p>
          <a:p>
            <a:r>
              <a:rPr sz="1400">
                <a:solidFill>
                  <a:srgbClr val="1A1A18"/>
                </a:solidFill>
              </a:rPr>
              <a:t>ODIAC 1km 해상도로 firm-level 변화 가시화</a:t>
            </a:r>
          </a:p>
          <a:p>
            <a:r>
              <a:rPr sz="1400">
                <a:solidFill>
                  <a:srgbClr val="1A1A18"/>
                </a:solidFill>
              </a:rPr>
              <a:t>패턴 D firms (포스코·삼성전자)의 하강 추세</a:t>
            </a:r>
          </a:p>
          <a:p>
            <a:r>
              <a:rPr sz="1400">
                <a:solidFill>
                  <a:srgbClr val="1A1A18"/>
                </a:solidFill>
              </a:rPr>
              <a:t>ODIAC 데이터로 일관 확인됨</a:t>
            </a:r>
          </a:p>
        </p:txBody>
      </p:sp>
      <p:pic>
        <p:nvPicPr>
          <p:cNvPr id="5" name="Picture 4" descr="fig_odiac_change_2019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업종별 GIR 5년 추이 (6 산업군)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6 panel: 업종별 firm 시계열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steel (POSCO, 현대제철)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petrochem (롯데케미칼, 한화솔루션, LG엔솔)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power_coal (KEPCO, SK이노)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semiconductor (삼성전자, SK하이닉스, LGD)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finance (네이버, KT, 삼성생명, IBK)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other (나머지)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산업별 패턴 차이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steel: 절대값 큰 변동 (수출 시황)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petrochem: 일반적 감소 추세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finance: Scope 1 미미, 안정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semicon: 사업 확장 + 효율 trade-off</a:t>
            </a:r>
          </a:p>
        </p:txBody>
      </p:sp>
      <p:pic>
        <p:nvPicPr>
          <p:cNvPr id="5" name="Picture 4" descr="fig_industry_time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23개사 4채널 정규화 추이 (2019=100)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Small multiples grid (5×5)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모든 23 firms 한 화면 비교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GIR(검정)·ESG(회색)·NO₂(주황)·ODIAC(파랑)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2019=100으로 정규화 → 변화율 비교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시각적 발견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포스코홀딩스: GIR↑↑ vs 위성↓↓ 명확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삼성전자: ESG가 가장 가파른 상승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네이버: 4채널 모두 상승 (확장)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대부분 firms: 위성·ODIAC 동반 하락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금융 firms: GIR/ESG 변동 미미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→ 산업별 다양성 + 공통 추세 동시 가시화</a:t>
            </a:r>
          </a:p>
        </p:txBody>
      </p:sp>
      <p:pic>
        <p:nvPicPr>
          <p:cNvPr id="5" name="Picture 4" descr="fig_all23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포스코홀딩스 4중 비교 디테일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4 panel (각 trend line + R²)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GIR 법정: τ=+1.00 완벽 상승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ESG 자체: τ=+0.67 상승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위성 NO₂: τ=-1.00 완벽 하강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ODIAC CO₂: τ=-1.00 완벽 하강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해석 (단정 회피)</a:t>
            </a:r>
          </a:p>
          <a:p>
            <a:r>
              <a:rPr sz="1400">
                <a:solidFill>
                  <a:srgbClr val="1A1A18"/>
                </a:solidFill>
              </a:rPr>
              <a:t>가설 1: 보고경계 확장 (해외 자회사)</a:t>
            </a:r>
          </a:p>
          <a:p>
            <a:r>
              <a:rPr sz="1400">
                <a:solidFill>
                  <a:srgbClr val="1A1A18"/>
                </a:solidFill>
              </a:rPr>
              <a:t>가설 2: Scope 정의 변경 reclassification</a:t>
            </a:r>
          </a:p>
          <a:p>
            <a:r>
              <a:rPr sz="1400">
                <a:solidFill>
                  <a:srgbClr val="1A1A18"/>
                </a:solidFill>
              </a:rPr>
              <a:t>가설 3: 효율 개선 + 보고 시차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KSSB 2028 권고</a:t>
            </a:r>
          </a:p>
          <a:p>
            <a:r>
              <a:rPr sz="1400">
                <a:solidFill>
                  <a:srgbClr val="1A1A18"/>
                </a:solidFill>
              </a:rPr>
              <a:t>포스코홀딩스 우선 검증 1순위 지정</a:t>
            </a:r>
          </a:p>
          <a:p>
            <a:r>
              <a:rPr sz="1400">
                <a:solidFill>
                  <a:srgbClr val="1A1A18"/>
                </a:solidFill>
              </a:rPr>
              <a:t>환경부 + KEITI 합동 현장 점검</a:t>
            </a:r>
          </a:p>
          <a:p>
            <a:r>
              <a:rPr sz="1400">
                <a:solidFill>
                  <a:srgbClr val="1A1A18"/>
                </a:solidFill>
              </a:rPr>
              <a:t>GIR-ESG 교차 검증 + 위성 데이터 활용</a:t>
            </a:r>
          </a:p>
        </p:txBody>
      </p:sp>
      <p:pic>
        <p:nvPicPr>
          <p:cNvPr id="5" name="Picture 4" descr="fig_posco_4channel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Heckman 회귀 계수 Forest Plot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Bootstrap 95% CI 시각화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주황: 유의 (CI가 0 미포함)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회색: 비유의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유의한 계수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ln(GIR): -2.00 [-8.93, -0.21]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yr_2021: +11.49 [+0.13, +32.98]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비유의 그러나 시사점 있는 계수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IMR: -12.69 (선택편향 borderline)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산업·연도 dummies (대부분)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해석</a:t>
            </a:r>
          </a:p>
          <a:p>
            <a:r>
              <a:rPr sz="1400">
                <a:solidFill>
                  <a:srgbClr val="1A1A18"/>
                </a:solidFill>
              </a:rPr>
              <a:t>대기업일수록 괴리율 낮음</a:t>
            </a:r>
          </a:p>
          <a:p>
            <a:r>
              <a:rPr sz="1400">
                <a:solidFill>
                  <a:srgbClr val="1A1A18"/>
                </a:solidFill>
              </a:rPr>
              <a:t>2021년 코로나 회복기 일시적 괴리 급증</a:t>
            </a:r>
          </a:p>
          <a:p>
            <a:r>
              <a:rPr sz="1400">
                <a:solidFill>
                  <a:srgbClr val="1A1A18"/>
                </a:solidFill>
              </a:rPr>
              <a:t>산업별 차이는 sample 한계로 강한 결론 X</a:t>
            </a:r>
          </a:p>
        </p:txBody>
      </p:sp>
      <p:pic>
        <p:nvPicPr>
          <p:cNvPr id="5" name="Picture 4" descr="fig_heckman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이상탐지 2D 분포 (괴리 × 위성 불일치)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400">
                <a:solidFill>
                  <a:srgbClr val="1A1A18"/>
                </a:solidFill>
              </a:rPr>
              <a:t>**X축**: GIR-ESG 괴리도</a:t>
            </a:r>
          </a:p>
          <a:p>
            <a:r>
              <a:rPr sz="1400">
                <a:solidFill>
                  <a:srgbClr val="1A1A18"/>
                </a:solidFill>
              </a:rPr>
              <a:t>**Y축**: GIR-위성·ODIAC 불일치도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우상단: 즉시 검증 대상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포스코홀딩스 (D 패턴, 큰 점)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삼성전자 (D 패턴)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현대모비스 (C 패턴)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좌하단: 정상 권역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A_consistent_down 12개사 다수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금융·서비스 firms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우하단: 위성만 불일치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일부 산업 firms (본사 좌표 한계)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좌상단: 공시 채널만 불일치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mixed 패턴 firms (부분 일치)</a:t>
            </a:r>
          </a:p>
        </p:txBody>
      </p:sp>
      <p:pic>
        <p:nvPicPr>
          <p:cNvPr id="5" name="Picture 4" descr="fig_anomaly_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업종별 괴리율 분포 (Box Plot)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6 산업군 GIR-ESG 괴리율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(ESG − GIR) / GIR × 100 (%)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분포 특징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steel: 중앙값 0 근처, 변동 작음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petrochem: 양의 편향 (ESG 더 큼)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finance: 큰 변동 (Scope 1 작아 비율 큼)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semicon: 양의 편향 (사업 확장)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power_coal: 음의 편향 (KEPCO 효과)</a:t>
            </a:r>
          </a:p>
          <a:p>
            <a:pPr lvl="1"/>
            <a:r>
              <a:rPr sz="1400">
                <a:solidFill>
                  <a:srgbClr val="1A1A18"/>
                </a:solidFill>
              </a:rPr>
              <a:t>other: 가장 큰 변동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시사점</a:t>
            </a:r>
          </a:p>
          <a:p>
            <a:r>
              <a:rPr sz="1400">
                <a:solidFill>
                  <a:srgbClr val="1A1A18"/>
                </a:solidFill>
              </a:rPr>
              <a:t>산업 특성별 공시 패턴 차이 확인</a:t>
            </a:r>
          </a:p>
          <a:p>
            <a:r>
              <a:rPr sz="1400">
                <a:solidFill>
                  <a:srgbClr val="1A1A18"/>
                </a:solidFill>
              </a:rPr>
              <a:t>KSSB 의무공시 시행 시 산업별</a:t>
            </a:r>
          </a:p>
          <a:p>
            <a:r>
              <a:rPr sz="1400">
                <a:solidFill>
                  <a:srgbClr val="1A1A18"/>
                </a:solidFill>
              </a:rPr>
              <a:t>검증 가이드라인 차별화 필요</a:t>
            </a:r>
          </a:p>
        </p:txBody>
      </p:sp>
      <p:pic>
        <p:nvPicPr>
          <p:cNvPr id="5" name="Picture 4" descr="fig_industry_boxpl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0" y="1188720"/>
            <a:ext cx="6126480" cy="4937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1D4ED8"/>
                </a:solidFill>
              </a:rPr>
              <a:t>Part 6 결론: 4가지 산업별 인사이트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914400"/>
            <a:ext cx="11430000" cy="20000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3385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 b="1">
                <a:solidFill>
                  <a:srgbClr val="1D4ED8"/>
                </a:solidFill>
              </a:rPr>
              <a:t>1. D 패턴은 철강+반도체 두 산업에만</a:t>
            </a:r>
          </a:p>
          <a:p>
            <a:r>
              <a:rPr sz="1400">
                <a:solidFill>
                  <a:srgbClr val="1A1A18"/>
                </a:solidFill>
              </a:rPr>
              <a:t>   포스코·삼성전자 — 절대 배출 큼 + 사업구조 변화 활발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2. C 패턴은 현대모비스 단 1건</a:t>
            </a:r>
          </a:p>
          <a:p>
            <a:r>
              <a:rPr sz="1400">
                <a:solidFill>
                  <a:srgbClr val="1A1A18"/>
                </a:solidFill>
              </a:rPr>
              <a:t>   ESG 보고 범위 확대 시점 변동성 가설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3. 위성 NO₂ 12개 firm 단조 하강</a:t>
            </a:r>
          </a:p>
          <a:p>
            <a:r>
              <a:rPr sz="1400">
                <a:solidFill>
                  <a:srgbClr val="1A1A18"/>
                </a:solidFill>
              </a:rPr>
              <a:t>   한국 정부 NOx 감축 정책 (2017-2022) 효과</a:t>
            </a:r>
          </a:p>
          <a:p>
            <a:r>
              <a:rPr sz="1400">
                <a:solidFill>
                  <a:srgbClr val="1A1A18"/>
                </a:solidFill>
              </a:rPr>
              <a:t>   산업별 차이 &lt; 정책 공통 효과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600" b="1">
                <a:solidFill>
                  <a:srgbClr val="1D4ED8"/>
                </a:solidFill>
              </a:rPr>
              <a:t>4. 금융·서비스 firms (네이버 제외) 경계 사례</a:t>
            </a:r>
          </a:p>
          <a:p>
            <a:r>
              <a:rPr sz="1400">
                <a:solidFill>
                  <a:srgbClr val="1A1A18"/>
                </a:solidFill>
              </a:rPr>
              <a:t>   Scope 1 미미 + 도시 배경 매몰</a:t>
            </a:r>
          </a:p>
          <a:p>
            <a:r>
              <a:rPr sz="1400">
                <a:solidFill>
                  <a:srgbClr val="1A1A18"/>
                </a:solidFill>
              </a:rPr>
              <a:t>   → Scope 2·3 검증이 더 중요한 의제</a:t>
            </a:r>
          </a:p>
          <a:p>
            <a:r>
              <a:rPr sz="1400">
                <a:solidFill>
                  <a:srgbClr val="1A1A18"/>
                </a:solidFill>
              </a:rPr>
              <a:t/>
            </a:r>
          </a:p>
          <a:p>
            <a:r>
              <a:rPr sz="1400">
                <a:solidFill>
                  <a:srgbClr val="1A1A18"/>
                </a:solidFill>
              </a:rPr>
              <a:t>**핵심**: 본 4중 비교 프레임은 산업·중공업</a:t>
            </a:r>
          </a:p>
          <a:p>
            <a:r>
              <a:rPr sz="1400">
                <a:solidFill>
                  <a:srgbClr val="1A1A18"/>
                </a:solidFill>
              </a:rPr>
              <a:t>firms에서 가장 강력한 진단력 제공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640080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606060"/>
                </a:solidFill>
              </a:rPr>
              <a:t>AX 2026 · 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