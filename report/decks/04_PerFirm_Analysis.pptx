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BEAFE"/>
                </a:solidFill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2937"/>
                </a:solidFill>
              </a:rPr>
              <a:t>23개사 산업별 심층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4B5563"/>
                </a:solidFill>
              </a:rPr>
              <a:t>8개 산업군 firm-by-firm narrative — 패턴 D·C·A의 사업 맥락 해석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</a:rPr>
              <a:t>2026 AX 아이디어 경진대회 · 자유분석 부문 · 15장 · github.com/zxsa0716/AX_Contest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2937"/>
                </a:solidFill>
              </a:rPr>
              <a:t>산업별 GIR Scope 1 분포 박스플롯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4B5563"/>
                </a:solidFill>
              </a:rPr>
              <a:t>업종별 5년 평균값 분포 — Scale &amp; dispersion 비교</a:t>
            </a:r>
          </a:p>
        </p:txBody>
      </p:sp>
      <p:pic>
        <p:nvPicPr>
          <p:cNvPr id="5" name="Picture 4" descr="fig_industry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661" y="1371600"/>
            <a:ext cx="723163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4B5563"/>
                </a:solidFill>
              </a:rPr>
              <a:t>발전·철강이 압도적 규모, 반도체는 중간, 금융·서비스는 미미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4552" cy="8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CA3AF"/>
                </a:solidFill>
              </a:rPr>
              <a:t>AX 2026 · Part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CA3AF"/>
                </a:solidFill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937"/>
                </a:solidFill>
              </a:rPr>
              <a:t>철강·중공업 — POSCO홀딩스 + 현대제철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097280" cy="4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754880" cy="5120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</a:rPr>
              <a:t>포스코홀딩스 (005490, 패턴 D — 본 연구 핵심 발견)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2019-2023 5년 동안 GIR Scope 1 τ=+1.00의 완벽 단조 상승, ESG τ=+0.67 동일 방향, 그러나 포항제철소 10km buffer NO₂ τ=−1.00, ODIAC τ=−1.00. 5년 모든 인접 쌍에서 일관, ERA5 보정 전후 robust.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가설: (i) 2022년 3월 POSCO홀딩스 신설 후 보고경계 확장, (ii) Scope 1↔Scope 2 reclassification, (iii) 효율 개선·CCUS 도입 + 보고 시차. 본 분석은 단정 불가, KSSB 2028 우선 검증 1순위.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</a:rPr>
              <a:t>현대제철 (004020, 패턴 mixed)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GIR τ=−0.20 (안정), 위성 NO₂ τ=+0.20, ODIAC τ=−0.40. 인천 공장 buffer로 매칭, 동기간 코로나 회복기 + EAF 비중 변화 영향 혼재. 같은 철강업종이지만 POSCO와 분리되는 결과 → 단일 산업의 firm-level 다양성을 시연.</a:t>
            </a:r>
          </a:p>
        </p:txBody>
      </p:sp>
      <p:pic>
        <p:nvPicPr>
          <p:cNvPr id="6" name="Picture 5" descr="fig_posco_4channel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72" y="1188720"/>
            <a:ext cx="667512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48072" y="6355080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9CA3AF"/>
                </a:solidFill>
              </a:rPr>
              <a:t>POSCO 4중 비교 detail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4552" cy="8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CA3AF"/>
                </a:solidFill>
              </a:rPr>
              <a:t>AX 2026 · Part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CA3AF"/>
                </a:solidFill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937"/>
                </a:solidFill>
              </a:rPr>
              <a:t>발전·에너지 — KEPCO + SK이노베이션 + LG에너지솔루션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097280" cy="4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754880" cy="5120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</a:rPr>
              <a:t>한국전력공사 (015760, 패턴 A↓ + structural 4년)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GIR τ=−1.00 완벽 감축, 정부 탈탄소 정책과 정합. 동시에 이상탐지 2020-2023 4년 모두 structural. 단 이는 공시-물리 불일치가 아닌 단일 firm 절대 규모(나주 본사 + 발전 자회사 합산) 효과 → 'scale-driven 정상 이상'.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</a:rPr>
              <a:t>SK이노베이션 (096770, 패턴 mixed)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본사 좌표 한계 있으나 NO₂ τ=−0.60, ODIAC τ=−0.40 일관 하락. GIR τ=0.00 안정. 정유업 가동률 변동 + 친환경 투자 전환이 공시에 늦게 반영되는 경향 추정.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</a:rPr>
              <a:t>LG에너지솔루션 (373220, 패턴 mixed)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2022년 1월 상장 신생사로 5년 패널 중 2022·2023만 보유. GIR τ=+1.00 (사업 확장) vs 위성 τ=−0.33 반대. 표본 N=2 한계로 결론 보류. 2019-2021은 LG화학 보고서를 proxy로 사용, §8.0에 명시.</a:t>
            </a:r>
          </a:p>
        </p:txBody>
      </p:sp>
      <p:pic>
        <p:nvPicPr>
          <p:cNvPr id="6" name="Picture 5" descr="fig_industry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72" y="1188720"/>
            <a:ext cx="667512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48072" y="6355080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9CA3AF"/>
                </a:solidFill>
              </a:rPr>
              <a:t>8개 산업군 시계열 비교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4552" cy="8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CA3AF"/>
                </a:solidFill>
              </a:rPr>
              <a:t>AX 2026 · Part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CA3AF"/>
                </a:solidFill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937"/>
                </a:solidFill>
              </a:rPr>
              <a:t>석유화학 — 롯데케미칼 + 한화솔루션 + 한화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097280" cy="4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</a:rPr>
              <a:t>롯데케미칼 (011170, 패턴 A↓)**, **한화솔루션 (009830, 패턴 mixed)**, **한화 (000880, 패턴 A↓)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세 firm 모두 본사 좌표 매칭 한계가 있으나, 위성 NO₂·ODIAC 모두 일관 하락(-0.33 ~ -0.60) 추세를 보였다. 여수·대산 산업단지의 실제 신호는 본 분석에 반영되지 않았다.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특히 한화솔루션은 2020년 1월 합병 신설로 2019년 보고서가 한화케미칼(전신) 자료임을 명시했다. 2020년 합병 시 보고경계 자체가 재정의됐으므로 5년 패널의 일관성 가정이 약하다.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본 산업군의 결론: 향후 좌표 정정 후 재분석이 필요하며, 본 연구는 사업장 좌표 정확성에 결과가 민감함을 시사한다. KSSB 검증 시 firm 본사 vs 사업장 분리는 핵심 설계 요소다.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석유화학 산업의 위성 신호는 NO₂·HCHO 동시 관측이 권장되며 (HCHO는 휘발성 유기화합물 지표), 본 연구의 후속 작업으로 HCHO 채널 패턴 분석을 계획한다.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937"/>
                </a:solidFill>
              </a:rPr>
              <a:t>반도체·디스플레이 — 삼성전자 + SK하이닉스 + LG디스플레이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097280" cy="4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754880" cy="5120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</a:rPr>
              <a:t>삼성전자 (005930, 패턴 D — 두 번째 핵심 발견)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GIR τ=+0.60, ESG τ=+1.00 (23개사 중 최강 자체보고 상승) vs 위성 NO₂ τ=−0.40, ODIAC τ=−0.40. 5년 일관 방향 차이는 무시 어렵다.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해석: 사업 확장(반도체 fab 증설)에 따른 절대 배출 보고 증가 + 도시 평균 NO₂ 하락(NOx 감축 정책 효과)이 동일 buffer에서 동시 진행 → firm-level과 도시 단위의 시간적 어긋남.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</a:rPr>
              <a:t>SK하이닉스 (000660, 패턴 mixed + 2021 transient)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GIR τ=+0.60, 위성 NO₂ τ=−0.40로 삼성전자와 유사한 부분 불일치. 2021년 단년 횡단면 이상 탐지. 이천 fab 좌표 매칭 적절 → 신호 신뢰도 높음.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</a:rPr>
              <a:t>LG디스플레이 (034220, 패턴 A↓)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GIR τ=−0.80 강한 감소, 위성 NO₂ τ=−0.60 동일 방향. 본사 좌표(서울 마곡)이고 실제 fab은 파주·구미. 신호 해석에 caveat 필요.</a:t>
            </a:r>
          </a:p>
        </p:txBody>
      </p:sp>
      <p:pic>
        <p:nvPicPr>
          <p:cNvPr id="6" name="Picture 5" descr="fig_all23_norm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780" y="1188720"/>
            <a:ext cx="5807412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15780" y="6355080"/>
            <a:ext cx="58074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9CA3AF"/>
                </a:solidFill>
              </a:rPr>
              <a:t>23개사 4채널 정규화 시계열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4552" cy="8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CA3AF"/>
                </a:solidFill>
              </a:rPr>
              <a:t>AX 2026 · Part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CA3AF"/>
                </a:solidFill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937"/>
                </a:solidFill>
              </a:rPr>
              <a:t>자동차·운송 — 현대모비스 + 현대자동차 + 대한항공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097280" cy="4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754880" cy="5120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</a:rPr>
              <a:t>현대모비스 (012330, 패턴 C — 본 연구 유일 사례)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GIR τ=−0.40 (감소) vs ESG τ=+0.40 (상승). 두 공시 채널이 반대 방향, 위성 NO₂ τ=−0.60은 GIR 지지. 가설로 ESG 보고 범위 확대(해외 자회사 추가 통합)가 절대값 증가를 유발한 것이 경쟁한다.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</a:rPr>
              <a:t>현대자동차 (005380, 패턴 A↓)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GIR τ=0.00 (안정), 위성 NO₂ τ=−0.60, ODIAC τ=−0.40. 일관 하락 시그널. 2022년부터 standalone 보고서 발간, 2019-2021은 Hyundai Motor Company 영문 sustainability report 사용.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</a:rPr>
              <a:t>대한항공 (003490, 패턴 mixed)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ESG τ=+0.80 (강한 상승) vs 위성 τ=−0.40. 항공업 Scope 1은 항공유 연소가 주요 원천이나 본 분석에서는 인천공항 정비 buffer만 측정 가능 → 노선 운항 실 배출은 관측 외. 항공업의 위성 검증 가능성은 향후 연구 과제다.</a:t>
            </a:r>
          </a:p>
        </p:txBody>
      </p:sp>
      <p:pic>
        <p:nvPicPr>
          <p:cNvPr id="6" name="Picture 5" descr="fig_patter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72" y="1188720"/>
            <a:ext cx="667512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48072" y="6355080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9CA3AF"/>
                </a:solidFill>
              </a:rPr>
              <a:t>5개 패턴 분포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4552" cy="8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CA3AF"/>
                </a:solidFill>
              </a:rPr>
              <a:t>AX 2026 · Part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CA3AF"/>
                </a:solidFill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937"/>
                </a:solidFill>
              </a:rPr>
              <a:t>건설·기타 제조 — 삼성물산 + 두산 + CJ제일제당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097280" cy="4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</a:rPr>
              <a:t>삼성물산 (028260, 패턴 mixed)**, **두산 (000150, 패턴 A↓)**, **CJ제일제당 (097950, 패턴 A↓)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세 firm 모두 본사 좌표 한계가 있으나 위성 NO₂ 일관 하락(τ=−0.60)을 보였다. 한국 전반의 NOx 감축 정책 효과로 해석된다.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특히 CJ제일제당은 GIR τ=+0.20 (안정) vs ESG τ=−0.20 (소폭 하락)으로 약한 C 패턴 신호를 보였으나 통계적 유의성은 부족했다. 식품 제조업의 Scope 1은 각 공장 보일러로 분산되어 있으므로 본사 좌표만으로는 buffer 신호 해석이 부정확하다.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두산은 그룹 사업 재편(두산중공업 분할 등)에 따른 보고경계 변화가 중첩됐으며, 5년 패널의 GIR 절대값 변동성이 크다(7→4 Mt). 본 연구의 패턴 분류는 이 변화를 mixed로 처리했다.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이 산업군은 본 연구의 좌표 정확성 한계가 가장 두드러지며, 향후 KSSB 검증 자원 투입 시 모든 사업장 좌표 자동 수집 시스템이 필수 인프라가 됨을 시사한다.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937"/>
                </a:solidFill>
              </a:rPr>
              <a:t>유통·식품 — 롯데쇼핑 + 이마트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097280" cy="4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</a:rPr>
              <a:t>롯데쇼핑 (023530, 패턴 mixed)**, **이마트 (139480, 패턴 A↓)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두 유통업 firm은 Scope 1 직접배출이 매장 보일러·물류 차량으로 분산되어 있어 위성 buffer 신호 해석이 도시 배경에 가깝다. 본 연구의 사업장 buffer 방식이 가장 부적합한 산업군이다.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특히 롯데쇼핑은 ESG τ=+1.00 (4년 보고분 강한 상승) vs 위성 τ=−0.60 방향 불일치를 보이는데, ESG 보고서 발간이 2021년부터 시작되어 표본 N=4의 한계가 있다. Mann-Kendall τ=+1.00은 4개 인접 쌍에 불과하므로 5년 robustness가 약하다.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이마트는 GIR τ=−0.40, 위성 NO₂ τ=−0.60으로 일관 하락 동조 시그널을 보였다. 다만 본사 좌표 사용으로 해석은 도시 배경 NO₂에 가깝다.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유통업의 정확한 검증을 위해서는 firm 단위가 아닌 매장·물류 단위 미세 모니터링이 필요하다. 본 연구의 발견은 KSSB 의무공시에서 유통·서비스 산업은 Scope 1보다 Scope 2·3 검증이 더 중요한 의제가 됨을 시사한다.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937"/>
                </a:solidFill>
              </a:rPr>
              <a:t>금융·서비스 — 네이버 + 삼성생명·IBK·KT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097280" cy="4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754880" cy="5120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</a:rPr>
              <a:t>네이버 (035420, 패턴 A↑ — 유일 일관 상승)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GIR τ=+1.00, ESG τ=+0.83 강한 일관 상승. 데이터센터 전력 수요 급증에 따른 자가발전 + 보일러 운영 확대가 Scope 1 증가의 주된 동인으로 추정. 분당 본사 buffer NO₂는 τ=0.00이라 위성에서는 직접 관측 어려움.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ICT 업종에서 Scope 1이 의미있게 증가하는 첫 사례. AI 인프라 확장기에 데이터센터 산업의 환경 영향 모니터링 필요성을 시사한다.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</a:rPr>
              <a:t>삼성생명 (032830)**, **중소기업은행 IBK (024110)**, **KT (030200)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세 firm 모두 GIR Scope 1 절대값이 미미(0.1-1.1 Mt). 본 연구의 4중 비교가 큰 의미를 갖지 않는다. 본사 좌표가 적절(Scope 1이 본사 사업운영에 집중)하며 위성 신호도 도시 배경에 일치.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KSSB 의무공시에서 이러한 firm은 GHG 보고의 정확성보다 Scope 2·3 (구매 전력·금융 자산 포트폴리오 financed emissions) 검증이 더 중요한 의제가 될 것이다. 본 연구는 이를 명시적으로 식별하는 첫 분석이다.</a:t>
            </a:r>
          </a:p>
        </p:txBody>
      </p:sp>
      <p:pic>
        <p:nvPicPr>
          <p:cNvPr id="6" name="Picture 5" descr="fig_industry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72" y="1188720"/>
            <a:ext cx="667512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48072" y="6355080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9CA3AF"/>
                </a:solidFill>
              </a:rPr>
              <a:t>산업군 5년 시계열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4552" cy="8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CA3AF"/>
                </a:solidFill>
              </a:rPr>
              <a:t>AX 2026 · Part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CA3AF"/>
                </a:solidFill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2937"/>
                </a:solidFill>
              </a:rPr>
              <a:t>23개사 패턴 매핑 — 한국 지도 위 시각화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4B5563"/>
                </a:solidFill>
              </a:rPr>
              <a:t>Gold 23개사 사업장에 패턴(A·C·D) 컬러 코드 overlay</a:t>
            </a:r>
          </a:p>
        </p:txBody>
      </p:sp>
      <p:pic>
        <p:nvPicPr>
          <p:cNvPr id="5" name="Picture 4" descr="fig_map_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711" y="1371600"/>
            <a:ext cx="575153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4B5563"/>
                </a:solidFill>
              </a:rPr>
              <a:t>패턴 D는 포항·수원, 패턴 C는 의왕, 패턴 A↑는 분당 (네이버 데이터센터)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4552" cy="8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CA3AF"/>
                </a:solidFill>
              </a:rPr>
              <a:t>AX 2026 · Part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CA3AF"/>
                </a:solidFill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2937"/>
                </a:solidFill>
              </a:rPr>
              <a:t>ODIAC CO₂ 5년 변화 — 2019 vs 2023 차분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4B5563"/>
                </a:solidFill>
              </a:rPr>
              <a:t>ODIAC v2024 1km 해상도, 두 연도 평균의 픽셀별 차분 (단위: kg/m²/yr)</a:t>
            </a:r>
          </a:p>
        </p:txBody>
      </p:sp>
      <p:pic>
        <p:nvPicPr>
          <p:cNvPr id="5" name="Picture 4" descr="fig_odiac_change_2019_2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371600"/>
            <a:ext cx="10515600" cy="33938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4B5563"/>
                </a:solidFill>
              </a:rPr>
              <a:t>동남부 산업밸트 일부에서 양 변화 잔존, 전반적으로 감소 우세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4552" cy="8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CA3AF"/>
                </a:solidFill>
              </a:rPr>
              <a:t>AX 2026 · Part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CA3AF"/>
                </a:solidFill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2937"/>
                </a:solidFill>
              </a:rPr>
              <a:t>Top 6 emitters 종합 추이 — 5년 multipanel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4B5563"/>
                </a:solidFill>
              </a:rPr>
              <a:t>POSCO·KEPCO·현대제철·SK이노·LG화학·삼성전자 GIR + ESG + 위성 통합</a:t>
            </a:r>
          </a:p>
        </p:txBody>
      </p:sp>
      <p:pic>
        <p:nvPicPr>
          <p:cNvPr id="5" name="Picture 4" descr="fig_top6_multi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794" y="1371600"/>
            <a:ext cx="7455363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4B5563"/>
                </a:solidFill>
              </a:rPr>
              <a:t>POSCO·삼성전자의 GIR↑ vs 위성↓ 패턴이 시각적으로 명확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4552" cy="8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CA3AF"/>
                </a:solidFill>
              </a:rPr>
              <a:t>AX 2026 · Part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CA3AF"/>
                </a:solidFill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937"/>
                </a:solidFill>
              </a:rPr>
              <a:t>산업별 종합 — 4가지 결론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097280" cy="4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본 연구의 23개사 분석을 산업별로 종합하면 다음 4가지 요지가 도출된다.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**첫째**, 패턴 D (공시-물리 방향 반대)는 철강과 반도체 두 산업에서만 나타났다. 두 산업 모두 절대 배출 규모가 크고, 동시에 사업 구조 변화(POSCO 지주 전환, 삼성전자 fab 증설)가 활발한 시기에 해당한다. 우연이 아닌 산업 동적 변화의 시그니처일 가능성이 있다.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**둘째**, 패턴 C (GIR-ESG 반대)는 현대모비스 단 1건. ESG 보고 범위 확대 시점의 변동성이 가설로 경쟁한다.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**셋째**, 위성 NO₂는 12개 firm에서 단조 하강 추세. 한국 전반의 NOx 감축 정책(2017-2022 미세먼지 종합대책) 효과가 위성에 가시화된 결과로, 산업별 차이보다 공통의 정책 효과가 강하다. 이는 위성 채널이 firm-level 신호를 분리하기 위해 ERA5 보정과 buffer 정확화가 필수임을 시사한다.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**넷째**, 금융·서비스 4개 firm (네이버 제외)은 본 분석의 4중 비교가 적절히 작동하지 않는 경계 사례. Scope 1 절대값이 미미하고 도시 배경 NO₂에 매몰되어 산업 신호와 분리되지 않는다. KSSB 의무공시에서 이러한 firm은 Scope 2·3 검증이 더 중요한 의제가 될 것이다.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937"/>
                </a:solidFill>
              </a:rPr>
              <a:t>산업별 분석의 정책 함의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097280" cy="4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산업별 firm-by-firm 분석은 KSSB 2028 의무공시 검증 자원의 차등 배분을 위한 구체적 가이드를 제공한다.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**즉시 검증 (Top tier)**: 패턴 D 2개사(POSCO홀딩스, 삼성전자) + 패턴 C 1개사(현대모비스) + structural 4건(KEPCO 4년). 본사·사업장 좌표 정확화 + 보고경계 변화 이력 추적 + 외부 검증기관 현장 검증 권고.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**정기 검증 (Mid tier)**: 패턴 mixed 7개사(현대제철, SK이노, LG에너지, 한화솔루션, 삼성물산, 대한항공, 롯데쇼핑). 분기별 모니터링 + 위성 신호 변화 추적.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**일반 검증 (Standard)**: 패턴 A↓ 12개사 + 패턴 A↑ 1개사(네이버). 연 1회 ISAE 3410 자체보고 검증.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산업별로는 철강·반도체·발전 3개 산업이 'high attention industry'로, 절대 배출 규모와 사업 구조 변화 빈도가 모두 높다. 화학·자동차·식품은 'medium attention', 금융·서비스·유통은 'low attention'으로 분류된다.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이 산업군별 분류는 KEITI 환경책임투자 플랫폼의 산업별 ESG 등급 가중치 설계에 직접 적용될 수 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